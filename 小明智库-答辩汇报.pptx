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入库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2月</c:v>
                  </c:pt>
                  <c:pt idx="1">
                    <c:v>3月</c:v>
                  </c:pt>
                  <c:pt idx="2">
                    <c:v>4月</c:v>
                  </c:pt>
                  <c:pt idx="3">
                    <c:v>5月</c:v>
                  </c:pt>
                  <c:pt idx="4">
                    <c:v>6月</c:v>
                  </c:pt>
                  <c:pt idx="5">
                    <c:v>7月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144</c:v>
                </c:pt>
                <c:pt idx="1">
                  <c:v>0</c:v>
                </c:pt>
                <c:pt idx="2">
                  <c:v>202</c:v>
                </c:pt>
                <c:pt idx="3">
                  <c:v>228</c:v>
                </c:pt>
                <c:pt idx="4">
                  <c:v>126</c:v>
                </c:pt>
                <c:pt idx="5">
                  <c:v>562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出库</c:v>
                </c:pt>
              </c:strCache>
            </c:strRef>
          </c:tx>
          <c:spPr>
            <a:solidFill>
              <a:srgbClr val="E0603A"/>
            </a:solidFill>
            <a:ln w="31750" cap="flat">
              <a:solidFill>
                <a:srgbClr val="E060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0603A"/>
              </a:solidFill>
              <a:ln w="9525" cap="flat">
                <a:solidFill>
                  <a:srgbClr val="E060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2月</c:v>
                  </c:pt>
                  <c:pt idx="1">
                    <c:v>3月</c:v>
                  </c:pt>
                  <c:pt idx="2">
                    <c:v>4月</c:v>
                  </c:pt>
                  <c:pt idx="3">
                    <c:v>5月</c:v>
                  </c:pt>
                  <c:pt idx="4">
                    <c:v>6月</c:v>
                  </c:pt>
                  <c:pt idx="5">
                    <c:v>7月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327</c:v>
                </c:pt>
                <c:pt idx="1">
                  <c:v>457</c:v>
                </c:pt>
                <c:pt idx="2">
                  <c:v>282</c:v>
                </c:pt>
                <c:pt idx="3">
                  <c:v>103</c:v>
                </c:pt>
                <c:pt idx="4">
                  <c:v>221</c:v>
                </c:pt>
                <c:pt idx="5">
                  <c:v>60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库存</c:v>
                </c:pt>
              </c:strCache>
            </c:strRef>
          </c:tx>
          <c:spPr>
            <a:solidFill>
              <a:srgbClr val="2F9D54"/>
            </a:solidFill>
            <a:ln w="31750" cap="flat">
              <a:solidFill>
                <a:srgbClr val="2F9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F9D54"/>
              </a:solidFill>
              <a:ln w="9525" cap="flat">
                <a:solidFill>
                  <a:srgbClr val="2F9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2月</c:v>
                  </c:pt>
                  <c:pt idx="1">
                    <c:v>3月</c:v>
                  </c:pt>
                  <c:pt idx="2">
                    <c:v>4月</c:v>
                  </c:pt>
                  <c:pt idx="3">
                    <c:v>5月</c:v>
                  </c:pt>
                  <c:pt idx="4">
                    <c:v>6月</c:v>
                  </c:pt>
                  <c:pt idx="5">
                    <c:v>7月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5860</c:v>
                </c:pt>
                <c:pt idx="1">
                  <c:v>5403</c:v>
                </c:pt>
                <c:pt idx="2">
                  <c:v>5323</c:v>
                </c:pt>
                <c:pt idx="3">
                  <c:v>5448</c:v>
                </c:pt>
                <c:pt idx="4">
                  <c:v>5353</c:v>
                </c:pt>
                <c:pt idx="5">
                  <c:v>5855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9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B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9B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6678A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93192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/>
          </a:solidFill>
          <a:ln/>
        </p:spPr>
      </p:sp>
      <p:sp>
        <p:nvSpPr>
          <p:cNvPr id="3" name="Shape 1"/>
          <p:cNvSpPr/>
          <p:nvPr/>
        </p:nvSpPr>
        <p:spPr>
          <a:xfrm>
            <a:off x="9281160" y="393192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9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49840" y="393192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9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18520" y="393192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8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412480" y="480060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8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81160" y="480060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83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480060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7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018520" y="480060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73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0" y="566928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7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281160" y="566928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71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149840" y="566928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6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018520" y="5669280"/>
            <a:ext cx="749808" cy="749808"/>
          </a:xfrm>
          <a:prstGeom prst="roundRect">
            <a:avLst>
              <a:gd name="adj" fmla="val 10976"/>
            </a:avLst>
          </a:prstGeom>
          <a:solidFill>
            <a:srgbClr val="1B3A6B">
              <a:alpha val="61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914400"/>
            <a:ext cx="932688" cy="932688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871" y="1119591"/>
            <a:ext cx="522305" cy="52230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22960" y="205740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小明智库</a:t>
            </a:r>
            <a:endParaRPr lang="en-US" sz="5800" dirty="0"/>
          </a:p>
        </p:txBody>
      </p:sp>
      <p:sp>
        <p:nvSpPr>
          <p:cNvPr id="17" name="Text 14"/>
          <p:cNvSpPr/>
          <p:nvPr/>
        </p:nvSpPr>
        <p:spPr>
          <a:xfrm>
            <a:off x="868680" y="331012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面向超市 / 日用仓库的进销存管理系统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868680" y="4160520"/>
            <a:ext cx="2029968" cy="475488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9525">
            <a:solidFill>
              <a:srgbClr val="2E4E7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160520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订单链路一体化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081528" y="4160520"/>
            <a:ext cx="2029968" cy="475488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9525">
            <a:solidFill>
              <a:srgbClr val="2E4E7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081528" y="4160520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库位分区管理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294376" y="4160520"/>
            <a:ext cx="2029968" cy="475488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9525">
            <a:solidFill>
              <a:srgbClr val="2E4E7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294376" y="4160520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保质期清理预警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68680" y="5532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0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项目汇报答辩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6868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8B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　　　　　　汇报时间：2026 / 07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85216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8A99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84832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783080" y="20299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课题背景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83080" y="25420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痛点与建设目标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084832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0299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相关技术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5420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架构与技术选型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602736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83080" y="35478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83080" y="40599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功能模块与业务链路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346704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602736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5478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0599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张核心业务表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864608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12064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783080" y="506577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系统实现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783080" y="5577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五大核心场景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864608"/>
            <a:ext cx="5349240" cy="1280160"/>
          </a:xfrm>
          <a:prstGeom prst="roundRect">
            <a:avLst>
              <a:gd name="adj" fmla="val 6429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512064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06577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77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成果与改进方向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课题背景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传统超市 / 日用仓库管理方式的四类典型痛点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79192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856232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DC262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513" y="2001073"/>
            <a:ext cx="313822" cy="31382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库存不精确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804672" y="30906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库存靠人记、易出错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账实经常不符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10712" y="1600200"/>
            <a:ext cx="2679192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66744" y="1856232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E0920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85" y="2001073"/>
            <a:ext cx="313822" cy="31382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66744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货物追踪难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3666744" y="30906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货放在哪个货架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何时到期无从查起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72784" y="1600200"/>
            <a:ext cx="2679192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528816" y="1856232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657" y="2001073"/>
            <a:ext cx="313822" cy="31382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528816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流程繁琐</a:t>
            </a:r>
            <a:endParaRPr lang="en-US" sz="1650" dirty="0"/>
          </a:p>
        </p:txBody>
      </p:sp>
      <p:sp>
        <p:nvSpPr>
          <p:cNvPr id="20" name="Text 15"/>
          <p:cNvSpPr/>
          <p:nvPr/>
        </p:nvSpPr>
        <p:spPr>
          <a:xfrm>
            <a:off x="6528816" y="30906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进货卖货没有单据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链路，凭经验操作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9134856" y="1600200"/>
            <a:ext cx="2679192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390888" y="1856232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2F9D54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5729" y="2001073"/>
            <a:ext cx="313822" cy="31382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90888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耗费人力</a:t>
            </a:r>
            <a:endParaRPr lang="en-US" sz="1650" dirty="0"/>
          </a:p>
        </p:txBody>
      </p:sp>
      <p:sp>
        <p:nvSpPr>
          <p:cNvPr id="25" name="Text 19"/>
          <p:cNvSpPr/>
          <p:nvPr/>
        </p:nvSpPr>
        <p:spPr>
          <a:xfrm>
            <a:off x="9390888" y="30906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对账盘点费时费力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缺货靠人工巡查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548640" y="4526280"/>
            <a:ext cx="11091672" cy="1600200"/>
          </a:xfrm>
          <a:prstGeom prst="roundRect">
            <a:avLst>
              <a:gd name="adj" fmla="val 5143"/>
            </a:avLst>
          </a:prstGeom>
          <a:solidFill>
            <a:srgbClr val="EAF2FD"/>
          </a:solidFill>
          <a:ln/>
        </p:spPr>
      </p:sp>
      <p:sp>
        <p:nvSpPr>
          <p:cNvPr id="27" name="Shape 21"/>
          <p:cNvSpPr/>
          <p:nvPr/>
        </p:nvSpPr>
        <p:spPr>
          <a:xfrm>
            <a:off x="868680" y="486460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184F95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743" y="5000671"/>
            <a:ext cx="294803" cy="29480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691640" y="46817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84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建设目标</a:t>
            </a:r>
            <a:endParaRPr lang="en-US" sz="1550" dirty="0"/>
          </a:p>
        </p:txBody>
      </p:sp>
      <p:sp>
        <p:nvSpPr>
          <p:cNvPr id="30" name="Text 23"/>
          <p:cNvSpPr/>
          <p:nvPr/>
        </p:nvSpPr>
        <p:spPr>
          <a:xfrm>
            <a:off x="1691640" y="5084064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以信息化手段减少人为干预：让使用者清楚每个阶段、每个商品的「库存、卖出、买入」，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从而优化仓储、精准进货、科学选品。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相关技术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轻量务实的技术选型：一键运行、零前端构建、便于讲解与部署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6720840" cy="804672"/>
          </a:xfrm>
          <a:prstGeom prst="roundRect">
            <a:avLst>
              <a:gd name="adj" fmla="val 10227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70078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1832458"/>
            <a:ext cx="285293" cy="2852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64208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3.3.5（Java 17）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17320" y="20025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后端框架，内嵌 Tomcat，一键启动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505456"/>
            <a:ext cx="6720840" cy="804672"/>
          </a:xfrm>
          <a:prstGeom prst="roundRect">
            <a:avLst>
              <a:gd name="adj" fmla="val 10227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4944" y="26334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618" y="276514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17320" y="259689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Data JPA + JdbcTemplate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417320" y="293522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实体映射做增删改查，原生 SQL 做统计聚合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48640" y="3438144"/>
            <a:ext cx="6720840" cy="804672"/>
          </a:xfrm>
          <a:prstGeom prst="roundRect">
            <a:avLst>
              <a:gd name="adj" fmla="val 10227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94944" y="356616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F9D5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8" y="369783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17320" y="352958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8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417320" y="386791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业务数据存储，SQL 脚本统一管理表结构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4370832"/>
            <a:ext cx="6720840" cy="804672"/>
          </a:xfrm>
          <a:prstGeom prst="roundRect">
            <a:avLst>
              <a:gd name="adj" fmla="val 10227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94944" y="449884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8" y="4630522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17320" y="446227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HTML / CSS / JavaScript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417320" y="480060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零框架零构建的单页应用（SPA）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5303520"/>
            <a:ext cx="6720840" cy="804672"/>
          </a:xfrm>
          <a:prstGeom prst="roundRect">
            <a:avLst>
              <a:gd name="adj" fmla="val 10227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94944" y="5431536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18" y="5563210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417320" y="5394960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Maven · IDEA · Git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1417320" y="573328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构建、开发与版本管理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635240" y="1572768"/>
            <a:ext cx="4005072" cy="4553712"/>
          </a:xfrm>
          <a:prstGeom prst="roundRect">
            <a:avLst>
              <a:gd name="adj" fmla="val 2055"/>
            </a:avLst>
          </a:prstGeom>
          <a:solidFill>
            <a:srgbClr val="0F2547"/>
          </a:solidFill>
          <a:ln/>
        </p:spPr>
      </p:sp>
      <p:sp>
        <p:nvSpPr>
          <p:cNvPr id="32" name="Text 25"/>
          <p:cNvSpPr/>
          <p:nvPr/>
        </p:nvSpPr>
        <p:spPr>
          <a:xfrm>
            <a:off x="795528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工程规模</a:t>
            </a:r>
            <a:endParaRPr lang="en-US" sz="1500" dirty="0"/>
          </a:p>
        </p:txBody>
      </p:sp>
      <p:sp>
        <p:nvSpPr>
          <p:cNvPr id="33" name="Text 26"/>
          <p:cNvSpPr/>
          <p:nvPr/>
        </p:nvSpPr>
        <p:spPr>
          <a:xfrm>
            <a:off x="7955280" y="233172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000" dirty="0"/>
          </a:p>
        </p:txBody>
      </p:sp>
      <p:sp>
        <p:nvSpPr>
          <p:cNvPr id="34" name="Text 27"/>
          <p:cNvSpPr/>
          <p:nvPr/>
        </p:nvSpPr>
        <p:spPr>
          <a:xfrm>
            <a:off x="9646920" y="24963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 REST 控制器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7955280" y="32644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000" dirty="0"/>
          </a:p>
        </p:txBody>
      </p:sp>
      <p:sp>
        <p:nvSpPr>
          <p:cNvPr id="36" name="Text 29"/>
          <p:cNvSpPr/>
          <p:nvPr/>
        </p:nvSpPr>
        <p:spPr>
          <a:xfrm>
            <a:off x="9646920" y="3429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张数据表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7955280" y="419709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2200+</a:t>
            </a:r>
            <a:endParaRPr lang="en-US" sz="3000" dirty="0"/>
          </a:p>
        </p:txBody>
      </p:sp>
      <p:sp>
        <p:nvSpPr>
          <p:cNvPr id="38" name="Text 31"/>
          <p:cNvSpPr/>
          <p:nvPr/>
        </p:nvSpPr>
        <p:spPr>
          <a:xfrm>
            <a:off x="9646920" y="43616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行后端 Java</a:t>
            </a:r>
            <a:endParaRPr lang="en-US" sz="1200" dirty="0"/>
          </a:p>
        </p:txBody>
      </p:sp>
      <p:sp>
        <p:nvSpPr>
          <p:cNvPr id="39" name="Text 32"/>
          <p:cNvSpPr/>
          <p:nvPr/>
        </p:nvSpPr>
        <p:spPr>
          <a:xfrm>
            <a:off x="7955280" y="51297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763</a:t>
            </a:r>
            <a:endParaRPr lang="en-US" sz="3000" dirty="0"/>
          </a:p>
        </p:txBody>
      </p:sp>
      <p:sp>
        <p:nvSpPr>
          <p:cNvPr id="40" name="Text 33"/>
          <p:cNvSpPr/>
          <p:nvPr/>
        </p:nvSpPr>
        <p:spPr>
          <a:xfrm>
            <a:off x="9646920" y="529437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行前端 JS（SPA）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 · 总体架构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前后端分离的三层架构，接口统一返回 Result{code, msg, data}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88720" y="1645920"/>
            <a:ext cx="9811512" cy="1261872"/>
          </a:xfrm>
          <a:prstGeom prst="roundRect">
            <a:avLst>
              <a:gd name="adj" fmla="val 6522"/>
            </a:avLst>
          </a:prstGeom>
          <a:solidFill>
            <a:srgbClr val="EAF2FD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81328" y="1975104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6169" y="2119945"/>
            <a:ext cx="313822" cy="31382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377440" y="18288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 · 单页应用 SPA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2377440" y="230428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hash 路由 · 就地视图 + 面包屑 · SVG 手绘图表 · 铃铛提示 · 图片压缩上传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70448" y="2926080"/>
            <a:ext cx="457200" cy="347472"/>
          </a:xfrm>
          <a:prstGeom prst="downArrow">
            <a:avLst/>
          </a:prstGeom>
          <a:solidFill>
            <a:srgbClr val="CFE3FB"/>
          </a:solidFill>
          <a:ln/>
        </p:spPr>
      </p:sp>
      <p:sp>
        <p:nvSpPr>
          <p:cNvPr id="12" name="Shape 9"/>
          <p:cNvSpPr/>
          <p:nvPr/>
        </p:nvSpPr>
        <p:spPr>
          <a:xfrm>
            <a:off x="1188720" y="3273552"/>
            <a:ext cx="9811512" cy="1261872"/>
          </a:xfrm>
          <a:prstGeom prst="roundRect">
            <a:avLst>
              <a:gd name="adj" fmla="val 6522"/>
            </a:avLst>
          </a:prstGeom>
          <a:solidFill>
            <a:srgbClr val="0F2547"/>
          </a:solidFill>
          <a:ln/>
        </p:spPr>
      </p:sp>
      <p:sp>
        <p:nvSpPr>
          <p:cNvPr id="13" name="Shape 10"/>
          <p:cNvSpPr/>
          <p:nvPr/>
        </p:nvSpPr>
        <p:spPr>
          <a:xfrm>
            <a:off x="1481328" y="3602736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169" y="3747577"/>
            <a:ext cx="313822" cy="31382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377440" y="34564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3.3.5 · REST API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2377440" y="3931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鉴权拦截器 → 操作日志拦截器 → 25 个控制器 → 统一 Result 响应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870448" y="4553712"/>
            <a:ext cx="457200" cy="347472"/>
          </a:xfrm>
          <a:prstGeom prst="downArrow">
            <a:avLst/>
          </a:prstGeom>
          <a:solidFill>
            <a:srgbClr val="CFE3FB"/>
          </a:solidFill>
          <a:ln/>
        </p:spPr>
      </p:sp>
      <p:sp>
        <p:nvSpPr>
          <p:cNvPr id="18" name="Shape 14"/>
          <p:cNvSpPr/>
          <p:nvPr/>
        </p:nvSpPr>
        <p:spPr>
          <a:xfrm>
            <a:off x="1188720" y="4901184"/>
            <a:ext cx="9811512" cy="1261872"/>
          </a:xfrm>
          <a:prstGeom prst="roundRect">
            <a:avLst>
              <a:gd name="adj" fmla="val 6522"/>
            </a:avLst>
          </a:prstGeom>
          <a:solidFill>
            <a:srgbClr val="EAF2FD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481328" y="5230368"/>
            <a:ext cx="603504" cy="603504"/>
          </a:xfrm>
          <a:prstGeom prst="roundRect">
            <a:avLst>
              <a:gd name="adj" fmla="val 22000"/>
            </a:avLst>
          </a:prstGeom>
          <a:solidFill>
            <a:srgbClr val="2F9D54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169" y="5375209"/>
            <a:ext cx="313822" cy="31382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377440" y="50840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8 · 库 ahut_base</a:t>
            </a:r>
            <a:endParaRPr lang="en-US" sz="1650" dirty="0"/>
          </a:p>
        </p:txBody>
      </p:sp>
      <p:sp>
        <p:nvSpPr>
          <p:cNvPr id="22" name="Text 17"/>
          <p:cNvSpPr/>
          <p:nvPr/>
        </p:nvSpPr>
        <p:spPr>
          <a:xfrm>
            <a:off x="2377440" y="55595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张表 · JPA 实体映射 + JdbcTemplate 统计聚合 · ddl-auto:none 以 SQL 脚本为准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583680" y="30540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 + JSON（请求头携带 token）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 · 功能模块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个功能入口 · 全站中文 · 就地视图少弹窗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17904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71907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828800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35024" y="16824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运营总览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68096" y="2386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KPI · 趋势 · 分类占比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410712" y="1517904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11880" y="171907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C262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1828800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197096" y="16824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预警看板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630168" y="2386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补货预警 + 清理预警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72784" y="1517904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73952" y="171907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2F9D5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28800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59168" y="16824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出入库操作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492240" y="2386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落位 · 订单 · 收货凭证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9134856" y="1517904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336024" y="171907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5752" y="1828800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921240" y="16824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采购订单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9354312" y="2386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 · 多行明细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3145536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49808" y="3346704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0920A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3456432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335024" y="33101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768096" y="4014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外卖式卡片 · 取消留痕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3410712" y="3145536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3611880" y="3346704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2F9D54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1608" y="345643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4197096" y="33101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商品档案</a:t>
            </a:r>
            <a:endParaRPr lang="en-US" sz="1350" dirty="0"/>
          </a:p>
        </p:txBody>
      </p:sp>
      <p:sp>
        <p:nvSpPr>
          <p:cNvPr id="35" name="Text 27"/>
          <p:cNvSpPr/>
          <p:nvPr/>
        </p:nvSpPr>
        <p:spPr>
          <a:xfrm>
            <a:off x="3630168" y="4014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· 分区 · 保质期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272784" y="3145536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473952" y="3346704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84F95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3456432"/>
            <a:ext cx="237744" cy="237744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7059168" y="33101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货位管理</a:t>
            </a:r>
            <a:endParaRPr lang="en-US" sz="1350" dirty="0"/>
          </a:p>
        </p:txBody>
      </p:sp>
      <p:sp>
        <p:nvSpPr>
          <p:cNvPr id="40" name="Text 31"/>
          <p:cNvSpPr/>
          <p:nvPr/>
        </p:nvSpPr>
        <p:spPr>
          <a:xfrm>
            <a:off x="6492240" y="4014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 · 存放明细 · 剩余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9134856" y="3145536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9336024" y="3346704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45752" y="3456432"/>
            <a:ext cx="237744" cy="237744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921240" y="33101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</a:t>
            </a:r>
            <a:endParaRPr lang="en-US" sz="1350" dirty="0"/>
          </a:p>
        </p:txBody>
      </p:sp>
      <p:sp>
        <p:nvSpPr>
          <p:cNvPr id="45" name="Text 35"/>
          <p:cNvSpPr/>
          <p:nvPr/>
        </p:nvSpPr>
        <p:spPr>
          <a:xfrm>
            <a:off x="9354312" y="4014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· 所供商品下钻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548640" y="4773168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749808" y="49743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0920A"/>
          </a:solidFill>
          <a:ln/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5084064"/>
            <a:ext cx="237744" cy="237744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1335024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预警阈值</a:t>
            </a:r>
            <a:endParaRPr lang="en-US" sz="1350" dirty="0"/>
          </a:p>
        </p:txBody>
      </p:sp>
      <p:sp>
        <p:nvSpPr>
          <p:cNvPr id="50" name="Text 39"/>
          <p:cNvSpPr/>
          <p:nvPr/>
        </p:nvSpPr>
        <p:spPr>
          <a:xfrm>
            <a:off x="768096" y="56418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安全下限 / 库存上限</a:t>
            </a:r>
            <a:endParaRPr lang="en-US" sz="1050" dirty="0"/>
          </a:p>
        </p:txBody>
      </p:sp>
      <p:sp>
        <p:nvSpPr>
          <p:cNvPr id="51" name="Shape 40"/>
          <p:cNvSpPr/>
          <p:nvPr/>
        </p:nvSpPr>
        <p:spPr>
          <a:xfrm>
            <a:off x="3410712" y="4773168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3611880" y="49743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184F95"/>
          </a:solidFill>
          <a:ln/>
        </p:spPr>
      </p:sp>
      <p:pic>
        <p:nvPicPr>
          <p:cNvPr id="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21608" y="5084064"/>
            <a:ext cx="237744" cy="237744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4197096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操作日志</a:t>
            </a:r>
            <a:endParaRPr lang="en-US" sz="1350" dirty="0"/>
          </a:p>
        </p:txBody>
      </p:sp>
      <p:sp>
        <p:nvSpPr>
          <p:cNvPr id="55" name="Text 43"/>
          <p:cNvSpPr/>
          <p:nvPr/>
        </p:nvSpPr>
        <p:spPr>
          <a:xfrm>
            <a:off x="3630168" y="56418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写操作自动留痕</a:t>
            </a:r>
            <a:endParaRPr lang="en-US" sz="1050" dirty="0"/>
          </a:p>
        </p:txBody>
      </p:sp>
      <p:sp>
        <p:nvSpPr>
          <p:cNvPr id="56" name="Shape 44"/>
          <p:cNvSpPr/>
          <p:nvPr/>
        </p:nvSpPr>
        <p:spPr>
          <a:xfrm>
            <a:off x="6272784" y="4773168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57" name="Shape 45"/>
          <p:cNvSpPr/>
          <p:nvPr/>
        </p:nvSpPr>
        <p:spPr>
          <a:xfrm>
            <a:off x="6473952" y="49743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2F9D54"/>
          </a:solidFill>
          <a:ln/>
        </p:spPr>
      </p:sp>
      <p:pic>
        <p:nvPicPr>
          <p:cNvPr id="5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5084064"/>
            <a:ext cx="237744" cy="237744"/>
          </a:xfrm>
          <a:prstGeom prst="rect">
            <a:avLst/>
          </a:prstGeom>
        </p:spPr>
      </p:pic>
      <p:sp>
        <p:nvSpPr>
          <p:cNvPr id="59" name="Text 46"/>
          <p:cNvSpPr/>
          <p:nvPr/>
        </p:nvSpPr>
        <p:spPr>
          <a:xfrm>
            <a:off x="705916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个人资料</a:t>
            </a:r>
            <a:endParaRPr lang="en-US" sz="1350" dirty="0"/>
          </a:p>
        </p:txBody>
      </p:sp>
      <p:sp>
        <p:nvSpPr>
          <p:cNvPr id="60" name="Text 47"/>
          <p:cNvSpPr/>
          <p:nvPr/>
        </p:nvSpPr>
        <p:spPr>
          <a:xfrm>
            <a:off x="6492240" y="56418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 · 修改密码</a:t>
            </a:r>
            <a:endParaRPr lang="en-US" sz="1050" dirty="0"/>
          </a:p>
        </p:txBody>
      </p:sp>
      <p:sp>
        <p:nvSpPr>
          <p:cNvPr id="61" name="Shape 48"/>
          <p:cNvSpPr/>
          <p:nvPr/>
        </p:nvSpPr>
        <p:spPr>
          <a:xfrm>
            <a:off x="9134856" y="4773168"/>
            <a:ext cx="267919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62" name="Shape 49"/>
          <p:cNvSpPr/>
          <p:nvPr/>
        </p:nvSpPr>
        <p:spPr>
          <a:xfrm>
            <a:off x="9336024" y="49743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C2626"/>
          </a:solidFill>
          <a:ln/>
        </p:spPr>
      </p:sp>
      <p:pic>
        <p:nvPicPr>
          <p:cNvPr id="6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45752" y="5084064"/>
            <a:ext cx="237744" cy="237744"/>
          </a:xfrm>
          <a:prstGeom prst="rect">
            <a:avLst/>
          </a:prstGeom>
        </p:spPr>
      </p:pic>
      <p:sp>
        <p:nvSpPr>
          <p:cNvPr id="64" name="Text 50"/>
          <p:cNvSpPr/>
          <p:nvPr/>
        </p:nvSpPr>
        <p:spPr>
          <a:xfrm>
            <a:off x="9921240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系统提示铃铛</a:t>
            </a:r>
            <a:endParaRPr lang="en-US" sz="1350" dirty="0"/>
          </a:p>
        </p:txBody>
      </p:sp>
      <p:sp>
        <p:nvSpPr>
          <p:cNvPr id="65" name="Text 51"/>
          <p:cNvSpPr/>
          <p:nvPr/>
        </p:nvSpPr>
        <p:spPr>
          <a:xfrm>
            <a:off x="9354312" y="56418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补货 / 清理实时提示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 · 核心业务链路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 → 采购 → 入库 → 库存/货位 → 销售 → 出库，全链路真实数据互通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627632" cy="1783080"/>
          </a:xfrm>
          <a:prstGeom prst="roundRect">
            <a:avLst>
              <a:gd name="adj" fmla="val 5056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" y="1874520"/>
            <a:ext cx="585216" cy="585216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588" y="2014972"/>
            <a:ext cx="304312" cy="3043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5786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212848" y="2450592"/>
            <a:ext cx="292608" cy="274320"/>
          </a:xfrm>
          <a:prstGeom prst="rightArrow">
            <a:avLst/>
          </a:prstGeom>
          <a:solidFill>
            <a:srgbClr val="CFE3FB"/>
          </a:solidFill>
          <a:ln/>
        </p:spPr>
      </p:sp>
      <p:sp>
        <p:nvSpPr>
          <p:cNvPr id="11" name="Shape 8"/>
          <p:cNvSpPr/>
          <p:nvPr/>
        </p:nvSpPr>
        <p:spPr>
          <a:xfrm>
            <a:off x="2514600" y="1691640"/>
            <a:ext cx="1627632" cy="1783080"/>
          </a:xfrm>
          <a:prstGeom prst="roundRect">
            <a:avLst>
              <a:gd name="adj" fmla="val 5056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035808" y="1874520"/>
            <a:ext cx="585216" cy="585216"/>
          </a:xfrm>
          <a:prstGeom prst="roundRect">
            <a:avLst>
              <a:gd name="adj" fmla="val 22000"/>
            </a:avLst>
          </a:prstGeom>
          <a:solidFill>
            <a:srgbClr val="184F9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260" y="2014972"/>
            <a:ext cx="304312" cy="304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5786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采购订单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560320" y="29260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 单号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160520" y="2450592"/>
            <a:ext cx="292608" cy="274320"/>
          </a:xfrm>
          <a:prstGeom prst="rightArrow">
            <a:avLst/>
          </a:prstGeom>
          <a:solidFill>
            <a:srgbClr val="CFE3FB"/>
          </a:solidFill>
          <a:ln/>
        </p:spPr>
      </p:sp>
      <p:sp>
        <p:nvSpPr>
          <p:cNvPr id="17" name="Shape 13"/>
          <p:cNvSpPr/>
          <p:nvPr/>
        </p:nvSpPr>
        <p:spPr>
          <a:xfrm>
            <a:off x="4462272" y="1691640"/>
            <a:ext cx="1627632" cy="1783080"/>
          </a:xfrm>
          <a:prstGeom prst="roundRect">
            <a:avLst>
              <a:gd name="adj" fmla="val 5056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983480" y="1874520"/>
            <a:ext cx="585216" cy="585216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932" y="2014972"/>
            <a:ext cx="304312" cy="3043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07992" y="25786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入库·落位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507992" y="29260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分区匹配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自动算到期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108192" y="2450592"/>
            <a:ext cx="292608" cy="274320"/>
          </a:xfrm>
          <a:prstGeom prst="rightArrow">
            <a:avLst/>
          </a:prstGeom>
          <a:solidFill>
            <a:srgbClr val="CFE3FB"/>
          </a:solidFill>
          <a:ln/>
        </p:spPr>
      </p:sp>
      <p:sp>
        <p:nvSpPr>
          <p:cNvPr id="23" name="Shape 18"/>
          <p:cNvSpPr/>
          <p:nvPr/>
        </p:nvSpPr>
        <p:spPr>
          <a:xfrm>
            <a:off x="6409944" y="1691640"/>
            <a:ext cx="1627632" cy="1783080"/>
          </a:xfrm>
          <a:prstGeom prst="roundRect">
            <a:avLst>
              <a:gd name="adj" fmla="val 5056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931152" y="1874520"/>
            <a:ext cx="585216" cy="585216"/>
          </a:xfrm>
          <a:prstGeom prst="roundRect">
            <a:avLst>
              <a:gd name="adj" fmla="val 22000"/>
            </a:avLst>
          </a:prstGeom>
          <a:solidFill>
            <a:srgbClr val="184F95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1604" y="2014972"/>
            <a:ext cx="304312" cy="30431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455664" y="25786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库存·货位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6455664" y="29260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批次粒度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8055864" y="2450592"/>
            <a:ext cx="292608" cy="274320"/>
          </a:xfrm>
          <a:prstGeom prst="rightArrow">
            <a:avLst/>
          </a:prstGeom>
          <a:solidFill>
            <a:srgbClr val="CFE3FB"/>
          </a:solidFill>
          <a:ln/>
        </p:spPr>
      </p:sp>
      <p:sp>
        <p:nvSpPr>
          <p:cNvPr id="29" name="Shape 23"/>
          <p:cNvSpPr/>
          <p:nvPr/>
        </p:nvSpPr>
        <p:spPr>
          <a:xfrm>
            <a:off x="8357616" y="1691640"/>
            <a:ext cx="1627632" cy="1783080"/>
          </a:xfrm>
          <a:prstGeom prst="roundRect">
            <a:avLst>
              <a:gd name="adj" fmla="val 5056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878824" y="1874520"/>
            <a:ext cx="585216" cy="585216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9276" y="2014972"/>
            <a:ext cx="304312" cy="30431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8403336" y="25786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8403336" y="29260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买家+经手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10003536" y="2450592"/>
            <a:ext cx="292608" cy="274320"/>
          </a:xfrm>
          <a:prstGeom prst="rightArrow">
            <a:avLst/>
          </a:prstGeom>
          <a:solidFill>
            <a:srgbClr val="CFE3FB"/>
          </a:solidFill>
          <a:ln/>
        </p:spPr>
      </p:sp>
      <p:sp>
        <p:nvSpPr>
          <p:cNvPr id="35" name="Shape 28"/>
          <p:cNvSpPr/>
          <p:nvPr/>
        </p:nvSpPr>
        <p:spPr>
          <a:xfrm>
            <a:off x="10305288" y="1691640"/>
            <a:ext cx="1627632" cy="1783080"/>
          </a:xfrm>
          <a:prstGeom prst="roundRect">
            <a:avLst>
              <a:gd name="adj" fmla="val 5056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826496" y="1874520"/>
            <a:ext cx="585216" cy="585216"/>
          </a:xfrm>
          <a:prstGeom prst="roundRect">
            <a:avLst>
              <a:gd name="adj" fmla="val 22000"/>
            </a:avLst>
          </a:prstGeom>
          <a:solidFill>
            <a:srgbClr val="184F95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66948" y="2014972"/>
            <a:ext cx="304312" cy="30431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0351008" y="25786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出库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10351008" y="29260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先到期先出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548640" y="39776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AF2FD"/>
          </a:solidFill>
          <a:ln/>
        </p:spPr>
      </p:sp>
      <p:sp>
        <p:nvSpPr>
          <p:cNvPr id="41" name="Shape 33"/>
          <p:cNvSpPr/>
          <p:nvPr/>
        </p:nvSpPr>
        <p:spPr>
          <a:xfrm>
            <a:off x="822960" y="425196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0920A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9023" y="4388023"/>
            <a:ext cx="294803" cy="294803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1600200" y="422452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补货预警闭环</a:t>
            </a:r>
            <a:endParaRPr lang="en-US" sz="1500" dirty="0"/>
          </a:p>
        </p:txBody>
      </p:sp>
      <p:sp>
        <p:nvSpPr>
          <p:cNvPr id="44" name="Text 35"/>
          <p:cNvSpPr/>
          <p:nvPr/>
        </p:nvSpPr>
        <p:spPr>
          <a:xfrm>
            <a:off x="841248" y="4956048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出库跌破安全下限 → 铃铛/看板提示补货 → 采购入库 → 库存回升，提示自动消失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6245352" y="39776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EAF2FD"/>
          </a:solidFill>
          <a:ln/>
        </p:spPr>
      </p:sp>
      <p:sp>
        <p:nvSpPr>
          <p:cNvPr id="46" name="Shape 37"/>
          <p:cNvSpPr/>
          <p:nvPr/>
        </p:nvSpPr>
        <p:spPr>
          <a:xfrm>
            <a:off x="6519672" y="425196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DC2626"/>
          </a:solidFill>
          <a:ln/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5735" y="4388023"/>
            <a:ext cx="294803" cy="294803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7296912" y="422452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清理预警闭环</a:t>
            </a:r>
            <a:endParaRPr lang="en-US" sz="1500" dirty="0"/>
          </a:p>
        </p:txBody>
      </p:sp>
      <p:sp>
        <p:nvSpPr>
          <p:cNvPr id="49" name="Text 39"/>
          <p:cNvSpPr/>
          <p:nvPr/>
        </p:nvSpPr>
        <p:spPr>
          <a:xfrm>
            <a:off x="6537960" y="4956048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入库自动算到期日 → 到期前 N 天提示清理 → 出库/清理批次 → 提示自动消失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 · 总览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21 张表（9 张核心业务表）· 逻辑外键 · 表结构由 SQL 脚本统一管理（Batch1~4 增量演进）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639312" cy="1353312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7739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86384" y="21305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商品档案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86384" y="249631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分区 zone · 保质期 · 预警提前天数 · 图片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70832" y="1627632"/>
            <a:ext cx="3639312" cy="1353312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17739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goodstype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08576" y="21305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商品分类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08576" y="249631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分类名 · 备注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93024" y="1627632"/>
            <a:ext cx="3639312" cy="1353312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0768" y="17739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430768" y="21305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30768" y="249631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数码 / 食品 / 生鲜 / 日用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145536"/>
            <a:ext cx="3639312" cy="1353312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86384" y="3648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货位（货架）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86384" y="401421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 · 分区 · 排列 · 容量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70832" y="3145536"/>
            <a:ext cx="3639312" cy="1353312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08576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location_stock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608576" y="3648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库位批次存货 ★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608576" y="401421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 · 入库日期 · 到期日期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93024" y="3145536"/>
            <a:ext cx="3639312" cy="1353312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30768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430768" y="3648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出入库流水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430768" y="401421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 · 关联订单 · 落位 · 凭证图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4663440"/>
            <a:ext cx="3639312" cy="1353312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480974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86384" y="51663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订单主表 ★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86384" y="55321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采购/销售 · 买家 · 经手 · 取消原因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70832" y="4663440"/>
            <a:ext cx="3639312" cy="1353312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08576" y="480974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order_item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608576" y="51663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订单明细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608576" y="55321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 · 数量 · 单价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193024" y="4663440"/>
            <a:ext cx="3639312" cy="1353312"/>
          </a:xfrm>
          <a:prstGeom prst="roundRect">
            <a:avLst>
              <a:gd name="adj" fmla="val 6081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30768" y="480974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stock_alert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8430768" y="51663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预警阈值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8430768" y="55321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安全下限 · 上限 · 启用状态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 · 核心表详解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四张关键表支撑「落位、保质期、订单取消、链路追溯」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394960" cy="2231136"/>
          </a:xfrm>
          <a:prstGeom prst="roundRect">
            <a:avLst>
              <a:gd name="adj" fmla="val 3689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847088"/>
            <a:ext cx="146304" cy="14630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1060704" y="170078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goods 商品档案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41248" y="2176272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zone —— 存储分区（冷冻/冰鲜/普通），约束可落位货架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shelf_life_days —— 保质期天数（空 = 不易过期）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cleanup_warn_days —— 到期前 N 天触发清理预警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count —— 当前库存，仅由出入库接口变更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245352" y="1572768"/>
            <a:ext cx="5394960" cy="2231136"/>
          </a:xfrm>
          <a:prstGeom prst="roundRect">
            <a:avLst>
              <a:gd name="adj" fmla="val 3689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1384" y="1847088"/>
            <a:ext cx="146304" cy="146304"/>
          </a:xfrm>
          <a:prstGeom prst="ellipse">
            <a:avLst/>
          </a:prstGeom>
          <a:solidFill>
            <a:srgbClr val="2F9D54"/>
          </a:solidFill>
          <a:ln/>
        </p:spPr>
      </p:sp>
      <p:sp>
        <p:nvSpPr>
          <p:cNvPr id="12" name="Text 10"/>
          <p:cNvSpPr/>
          <p:nvPr/>
        </p:nvSpPr>
        <p:spPr>
          <a:xfrm>
            <a:off x="6757416" y="170078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location_stock 库位批次 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537960" y="2176272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一次入库 = 一条批次记录（库位 × 商品 × 到期日）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inbound_date / expiry_date —— 入库与到期时间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出库按到期日升序扣减（先到期先出）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是清理预警与货位看板的数据基础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48640" y="3968496"/>
            <a:ext cx="5394960" cy="2231136"/>
          </a:xfrm>
          <a:prstGeom prst="roundRect">
            <a:avLst>
              <a:gd name="adj" fmla="val 3689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4242816"/>
            <a:ext cx="146304" cy="146304"/>
          </a:xfrm>
          <a:prstGeom prst="ellipse">
            <a:avLst/>
          </a:prstGeom>
          <a:solidFill>
            <a:srgbClr val="E0920A"/>
          </a:solidFill>
          <a:ln/>
        </p:spPr>
      </p:sp>
      <p:sp>
        <p:nvSpPr>
          <p:cNvPr id="16" name="Text 14"/>
          <p:cNvSpPr/>
          <p:nvPr/>
        </p:nvSpPr>
        <p:spPr>
          <a:xfrm>
            <a:off x="1060704" y="40965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orders + order_item 订单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41248" y="457200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type：0 采购（关联供应商）/ 1 销售（买家文本）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operator_id —— 经手账号自动记录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cancel_reason / cancel_time —— 取消必填原因留痕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销售订单后端禁删，只允许取消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245352" y="3968496"/>
            <a:ext cx="5394960" cy="2231136"/>
          </a:xfrm>
          <a:prstGeom prst="roundRect">
            <a:avLst>
              <a:gd name="adj" fmla="val 3689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01384" y="4242816"/>
            <a:ext cx="146304" cy="146304"/>
          </a:xfrm>
          <a:prstGeom prst="ellipse">
            <a:avLst/>
          </a:prstGeom>
          <a:solidFill>
            <a:srgbClr val="184F95"/>
          </a:solidFill>
          <a:ln/>
        </p:spPr>
      </p:sp>
      <p:sp>
        <p:nvSpPr>
          <p:cNvPr id="20" name="Text 18"/>
          <p:cNvSpPr/>
          <p:nvPr/>
        </p:nvSpPr>
        <p:spPr>
          <a:xfrm>
            <a:off x="6757416" y="40965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record 出入库流水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37960" y="457200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type：0 入库 / 1 出库，操作人来自登录令牌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order_id —— 关联采购/销售订单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location_id —— 入库落位的货架</a:t>
            </a:r>
            <a:endParaRPr lang="en-US" sz="108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 —— 收货凭证照片（压缩后入库）</a:t>
            </a:r>
            <a:endParaRPr lang="en-US" sz="10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系统实现 · 登录与安全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宽版两栏登录页 + 全链路安全机制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86400" cy="4526280"/>
          </a:xfrm>
          <a:prstGeom prst="roundRect">
            <a:avLst>
              <a:gd name="adj" fmla="val 1818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72768" y="1874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登录页设计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9536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宽版两栏：左侧登录表单，右侧仓库实景图 + 宣传语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密码框内置显隐按钮（小眼睛），点击切换明文/密文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登录成功签发 token 存入浏览器，随每次请求携带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任意接口返回 401 时自动清除会话并回到登录页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演示账号提示直接印在表单下方，答辩演示零门槛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55080" y="1600200"/>
            <a:ext cx="5285232" cy="4526280"/>
          </a:xfrm>
          <a:prstGeom prst="roundRect">
            <a:avLst>
              <a:gd name="adj" fmla="val 1818"/>
            </a:avLst>
          </a:prstGeom>
          <a:solidFill>
            <a:srgbClr val="0F2547"/>
          </a:solidFill>
          <a:ln/>
        </p:spPr>
      </p:sp>
      <p:sp>
        <p:nvSpPr>
          <p:cNvPr id="12" name="Text 9"/>
          <p:cNvSpPr/>
          <p:nvPr/>
        </p:nvSpPr>
        <p:spPr>
          <a:xfrm>
            <a:off x="667512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安全机制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675120" y="2487168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015" y="2610063"/>
            <a:ext cx="266273" cy="26627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60920" y="24505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口令加盐散列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7360920" y="2798064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md5( md5(密码) + 盐 )，每用户独立盐值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675120" y="3401568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015" y="3524463"/>
            <a:ext cx="266273" cy="26627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360920" y="33649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会话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7360920" y="3712464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服务端签发 UUID 令牌，拦截器统一校验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675120" y="4315968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8015" y="4438863"/>
            <a:ext cx="266273" cy="26627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60920" y="42793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修改密码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360920" y="4626864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校验原密码后按原盐重新散列保存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675120" y="5230368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015" y="5353263"/>
            <a:ext cx="266273" cy="26627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360920" y="51937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操作留痕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7360920" y="5541264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全部写操作自动写入操作日志表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系统实现 · 出入库与保质期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入库四步闭环，单事务保证「库存 / 批次 / 流水」三处数据永远一致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679192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883664"/>
            <a:ext cx="548640" cy="5486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86384" y="2606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选货物与数量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86384" y="30175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可关联采购/销售订单，可上传收货凭证照片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3200400" y="2697480"/>
            <a:ext cx="256032" cy="237744"/>
          </a:xfrm>
          <a:prstGeom prst="rightArrow">
            <a:avLst/>
          </a:prstGeom>
          <a:solidFill>
            <a:srgbClr val="CFE3FB"/>
          </a:solidFill>
          <a:ln/>
        </p:spPr>
      </p:sp>
      <p:sp>
        <p:nvSpPr>
          <p:cNvPr id="12" name="Shape 10"/>
          <p:cNvSpPr/>
          <p:nvPr/>
        </p:nvSpPr>
        <p:spPr>
          <a:xfrm>
            <a:off x="3410712" y="1645920"/>
            <a:ext cx="2679192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883664"/>
            <a:ext cx="548640" cy="5486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48456" y="1883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648456" y="2606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选落位库位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48456" y="30175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只列出与商品分区一致的货架，分区不匹配直接拒绝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6062472" y="2697480"/>
            <a:ext cx="256032" cy="237744"/>
          </a:xfrm>
          <a:prstGeom prst="rightArrow">
            <a:avLst/>
          </a:prstGeom>
          <a:solidFill>
            <a:srgbClr val="CFE3FB"/>
          </a:solidFill>
          <a:ln/>
        </p:spPr>
      </p:sp>
      <p:sp>
        <p:nvSpPr>
          <p:cNvPr id="18" name="Shape 16"/>
          <p:cNvSpPr/>
          <p:nvPr/>
        </p:nvSpPr>
        <p:spPr>
          <a:xfrm>
            <a:off x="6272784" y="1645920"/>
            <a:ext cx="2679192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10528" y="1883664"/>
            <a:ext cx="548640" cy="5486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0528" y="1883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510528" y="2606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自动算到期日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0175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到期日 = 入库时间 + 商品保质期天数，写入批次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8924544" y="2697480"/>
            <a:ext cx="256032" cy="237744"/>
          </a:xfrm>
          <a:prstGeom prst="rightArrow">
            <a:avLst/>
          </a:prstGeom>
          <a:solidFill>
            <a:srgbClr val="CFE3FB"/>
          </a:solidFill>
          <a:ln/>
        </p:spPr>
      </p:sp>
      <p:sp>
        <p:nvSpPr>
          <p:cNvPr id="24" name="Shape 22"/>
          <p:cNvSpPr/>
          <p:nvPr/>
        </p:nvSpPr>
        <p:spPr>
          <a:xfrm>
            <a:off x="9134856" y="1645920"/>
            <a:ext cx="2679192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72600" y="1883664"/>
            <a:ext cx="548640" cy="5486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9372600" y="1883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9372600" y="2606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事务内三表同步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372600" y="30175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商品库存 + 库位批次 + 出入库流水一次提交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548640" y="434340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E7F6E7"/>
          </a:solidFill>
          <a:ln/>
        </p:spPr>
      </p:sp>
      <p:sp>
        <p:nvSpPr>
          <p:cNvPr id="30" name="Shape 28"/>
          <p:cNvSpPr/>
          <p:nvPr/>
        </p:nvSpPr>
        <p:spPr>
          <a:xfrm>
            <a:off x="868680" y="468172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2F9D54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743" y="4817791"/>
            <a:ext cx="294803" cy="294803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691640" y="4526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67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出库策略：先到期先出（FEFO）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1691640" y="4983480"/>
            <a:ext cx="9509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同一商品的所有批次按「到期日升序（无到期日排最后）」逐批扣减，批次清零自动删除；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生鲜先出临期货，从机制上减少过期损耗。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系统实现 · 订单管理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采购/销售双单据体系，销售订单按外卖订单形态重构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074920" cy="4526280"/>
          </a:xfrm>
          <a:prstGeom prst="roundRect">
            <a:avLst>
              <a:gd name="adj" fmla="val 1818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006194"/>
            <a:ext cx="285293" cy="2852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8745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采购订单（对供应商）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9536" y="269748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表格式列表：单号 / 供应商 / 项数 / 总量 / 金额 / 状态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多行商品明细（可增删行），金额按明细自动合计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单号自动生成：PO + 时间戳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入库时可选择关联，形成「订单 → 入库」链路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允许删除（连带删除明细）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0" y="1600200"/>
            <a:ext cx="5696712" cy="4526280"/>
          </a:xfrm>
          <a:prstGeom prst="roundRect">
            <a:avLst>
              <a:gd name="adj" fmla="val 1818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0920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20061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949440" y="187452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销售订单（toC 门店零售）</a:t>
            </a:r>
            <a:endParaRPr lang="en-US" sz="1550" dirty="0"/>
          </a:p>
        </p:txBody>
      </p:sp>
      <p:sp>
        <p:nvSpPr>
          <p:cNvPr id="15" name="Shape 11"/>
          <p:cNvSpPr/>
          <p:nvPr/>
        </p:nvSpPr>
        <p:spPr>
          <a:xfrm>
            <a:off x="6254496" y="2606040"/>
            <a:ext cx="50749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46520" y="27249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SO20260717093000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9692640" y="2743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E7F6E7"/>
          </a:solidFill>
          <a:ln/>
        </p:spPr>
      </p:sp>
      <p:sp>
        <p:nvSpPr>
          <p:cNvPr id="18" name="Text 14"/>
          <p:cNvSpPr/>
          <p:nvPr/>
        </p:nvSpPr>
        <p:spPr>
          <a:xfrm>
            <a:off x="9692640" y="2743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67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446520" y="30540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买家：散客·李女士　　经手账号：超级管理员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446520" y="3401568"/>
            <a:ext cx="4663440" cy="0"/>
          </a:xfrm>
          <a:prstGeom prst="line">
            <a:avLst/>
          </a:prstGeom>
          <a:noFill/>
          <a:ln w="9525">
            <a:solidFill>
              <a:srgbClr val="DFE8F5"/>
            </a:solidFill>
            <a:prstDash val="dash"/>
          </a:ln>
        </p:spPr>
      </p:sp>
      <p:sp>
        <p:nvSpPr>
          <p:cNvPr id="21" name="Text 17"/>
          <p:cNvSpPr/>
          <p:nvPr/>
        </p:nvSpPr>
        <p:spPr>
          <a:xfrm>
            <a:off x="6446520" y="34747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旺仔牛奶　　　　×10　　　　¥5.50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9921240" y="3931920"/>
            <a:ext cx="1170432" cy="329184"/>
          </a:xfrm>
          <a:prstGeom prst="roundRect">
            <a:avLst>
              <a:gd name="adj" fmla="val 22222"/>
            </a:avLst>
          </a:prstGeom>
          <a:solidFill>
            <a:srgbClr val="DC2626"/>
          </a:solidFill>
          <a:ln/>
        </p:spPr>
      </p:sp>
      <p:sp>
        <p:nvSpPr>
          <p:cNvPr id="23" name="Text 19"/>
          <p:cNvSpPr/>
          <p:nvPr/>
        </p:nvSpPr>
        <p:spPr>
          <a:xfrm>
            <a:off x="9921240" y="393192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取消订单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254496" y="46177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一单一卡：单号、买家、经手账号、明细数量、时间、状态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不可删除（前端无入口 + 后端拒绝，双保险）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取消必须填写原因，原因与时间永久留痕、卡片置灰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系统实现 · 货位看板与智能提示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每个货架「存了什么、还剩多少」一目了然；异常主动找人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86400" cy="4526280"/>
          </a:xfrm>
          <a:prstGeom prst="roundRect">
            <a:avLst>
              <a:gd name="adj" fmla="val 1818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货位看板（按分区分组）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331720"/>
            <a:ext cx="493776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46888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普-10-04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94760" y="24963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日用品仓库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51560" y="2871216"/>
            <a:ext cx="4480560" cy="146304"/>
          </a:xfrm>
          <a:prstGeom prst="roundRect">
            <a:avLst>
              <a:gd name="adj" fmla="val 50000"/>
            </a:avLst>
          </a:prstGeom>
          <a:solidFill>
            <a:srgbClr val="EEF2F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1560" y="2871216"/>
            <a:ext cx="806501" cy="146304"/>
          </a:xfrm>
          <a:prstGeom prst="roundRect">
            <a:avLst>
              <a:gd name="adj" fmla="val 50000"/>
            </a:avLst>
          </a:prstGeom>
          <a:solidFill>
            <a:srgbClr val="2F9D54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0723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已用 90 / 500　·　剩余 410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51560" y="3438144"/>
            <a:ext cx="4480560" cy="384048"/>
          </a:xfrm>
          <a:prstGeom prst="roundRect">
            <a:avLst>
              <a:gd name="adj" fmla="val 14286"/>
            </a:avLst>
          </a:prstGeom>
          <a:solidFill>
            <a:srgbClr val="F2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1234440" y="34747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牙膏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0" y="34747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×90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1248" y="44348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▪"/>
            </a:pPr>
            <a:r>
              <a:rPr lang="en-US" sz="11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冷冻 / 冰鲜 / 普通 分区分组展示</a:t>
            </a:r>
            <a:endParaRPr lang="en-US" sz="118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▪"/>
            </a:pPr>
            <a:r>
              <a:rPr lang="en-US" sz="11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容量、已用、剩余容量 + 使用率进度条（≥95% 变红）</a:t>
            </a:r>
            <a:endParaRPr lang="en-US" sz="118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▪"/>
            </a:pPr>
            <a:r>
              <a:rPr lang="en-US" sz="11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逐行列出存放的商品与数量，空库位标注「空置」</a:t>
            </a:r>
            <a:endParaRPr lang="en-US" sz="1180" dirty="0"/>
          </a:p>
        </p:txBody>
      </p:sp>
      <p:sp>
        <p:nvSpPr>
          <p:cNvPr id="18" name="Shape 16"/>
          <p:cNvSpPr/>
          <p:nvPr/>
        </p:nvSpPr>
        <p:spPr>
          <a:xfrm>
            <a:off x="6355080" y="1600200"/>
            <a:ext cx="5285232" cy="4526280"/>
          </a:xfrm>
          <a:prstGeom prst="roundRect">
            <a:avLst>
              <a:gd name="adj" fmla="val 1818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系统提示铃铛（右上角）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629400" y="2377440"/>
            <a:ext cx="473659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39712" y="2560320"/>
            <a:ext cx="128016" cy="128016"/>
          </a:xfrm>
          <a:prstGeom prst="ellipse">
            <a:avLst/>
          </a:prstGeom>
          <a:solidFill>
            <a:srgbClr val="E0920A"/>
          </a:solidFill>
          <a:ln/>
        </p:spPr>
      </p:sp>
      <p:sp>
        <p:nvSpPr>
          <p:cNvPr id="22" name="Text 20"/>
          <p:cNvSpPr/>
          <p:nvPr/>
        </p:nvSpPr>
        <p:spPr>
          <a:xfrm>
            <a:off x="7086600" y="24505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补货提示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86600" y="276148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「牙膏」库存 90，低于安全下限 120，需及时进货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629400" y="3346704"/>
            <a:ext cx="473659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39712" y="3529584"/>
            <a:ext cx="128016" cy="12801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7086600" y="341985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清理提示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373075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货位 鲜-5-01 的「葡萄」(500) 将于 2 天后到期，需清理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6647688" y="45262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▪"/>
            </a:pPr>
            <a:r>
              <a:rPr lang="en-US" sz="11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铃铛角标实时显示提示条数，点击条目直达商品详情</a:t>
            </a:r>
            <a:endParaRPr lang="en-US" sz="118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▪"/>
            </a:pPr>
            <a:r>
              <a:rPr lang="en-US" sz="11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出入库等操作完成后自动刷新，无需人工巡查</a:t>
            </a:r>
            <a:endParaRPr lang="en-US" sz="1180" dirty="0"/>
          </a:p>
          <a:p>
            <a:pPr marL="152400" indent="-152400">
              <a:lnSpc>
                <a:spcPct val="112000"/>
              </a:lnSpc>
              <a:spcAft>
                <a:spcPts val="600"/>
              </a:spcAft>
              <a:buSzPct val="100000"/>
              <a:buChar char="▪"/>
            </a:pPr>
            <a:r>
              <a:rPr lang="en-US" sz="118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与「预警看板」同一数据源（实时 SQL 生成，非定时任务）</a:t>
            </a:r>
            <a:endParaRPr lang="en-US" sz="11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系统实现 · 商品档案与经营分析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从「一件商品」看穿它的库存、卖出与买入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4892040" cy="4526280"/>
          </a:xfrm>
          <a:prstGeom prst="roundRect">
            <a:avLst>
              <a:gd name="adj" fmla="val 1818"/>
            </a:avLst>
          </a:prstGeom>
          <a:solidFill>
            <a:srgbClr val="F6F9FE"/>
          </a:solidFill>
          <a:ln w="9525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4708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F9D5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78762"/>
            <a:ext cx="285293" cy="2852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84708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商品档案与详情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59536" y="2651760"/>
            <a:ext cx="4297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图片卡片网格，库存低于安全下限时红底标出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编辑不允许改库存 —— 库存只由出入库变更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档案维护保质期天数与清理预警提前天数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详情页：信息汇总 + 供应商自动推导 + 近期流水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历史折线支持 周 / 月 / 季 / 年 四种粒度切换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库存序列由当前库存沿流水逐期回推得到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760720" y="1600200"/>
            <a:ext cx="5879592" cy="45262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35040" y="17830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出入库 / 库存历史折线（示意数据）</a:t>
            </a:r>
            <a:endParaRPr lang="en-US" sz="13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989320" y="2240280"/>
          <a:ext cx="5440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系统特色亮点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536192" y="9692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答辩演示中最值得展开的六个点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63931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033626"/>
            <a:ext cx="285293" cy="2852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92024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数据真实互通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22960" y="2606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页面上每个数字都可追溯到具体数据表的真实行，无任何 mock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70832" y="1645920"/>
            <a:ext cx="363931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26864" y="190195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F9D5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538" y="203362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30952" y="192024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先到期先出 FEFO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45152" y="2606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批次粒度库存，出库自动先扣临期批次，机制上降损耗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93024" y="1645920"/>
            <a:ext cx="363931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49056" y="190195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C262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730" y="2033626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153144" y="192024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保质期清理预警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467344" y="2606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入库自动算到期，按商品自定义提前天数主动提示清理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3931920"/>
            <a:ext cx="363931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04672" y="418795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84F95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6" y="4319626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20624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就地视图交互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22960" y="4892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详情/表单不弹窗，面包屑返回；全站仅两个轻量确认框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70832" y="3931920"/>
            <a:ext cx="363931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626864" y="418795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0920A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8538" y="4319626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330952" y="420624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操作全留痕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4645152" y="4892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拦截器自动记录所有写操作：谁·何时·做了什么·耗时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193024" y="3931920"/>
            <a:ext cx="363931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FE8F5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449056" y="418795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0730" y="4319626"/>
            <a:ext cx="285293" cy="28529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153144" y="4206240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图片体验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8467344" y="4892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9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上传自动压缩（900px/JPEG），缺图自动回退内置矢量图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804672" cy="502920"/>
          </a:xfrm>
          <a:prstGeom prst="roundRect">
            <a:avLst>
              <a:gd name="adj" fmla="val 18182"/>
            </a:avLst>
          </a:prstGeom>
          <a:solidFill>
            <a:srgbClr val="0F25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536192" y="38404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4754880"/>
          </a:xfrm>
          <a:prstGeom prst="roundRect">
            <a:avLst>
              <a:gd name="adj" fmla="val 1731"/>
            </a:avLst>
          </a:prstGeom>
          <a:solidFill>
            <a:srgbClr val="E7F6E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73736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2F9D5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187342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72768" y="1737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7A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59536" y="2514600"/>
            <a:ext cx="4892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个功能入口，覆盖进销存全流程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供应商→采购→入库→库存/货位→销售→出库 全链路打通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补货 + 清理双预警闭环（铃铛 / 看板 / 商品红标联动）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货位分区约束与批次保质期管理（FEFO）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登录鉴权、密码加盐、操作日志、修改密码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全站中文、响应式布局、就地视图少弹窗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55080" y="1463040"/>
            <a:ext cx="5285232" cy="4754880"/>
          </a:xfrm>
          <a:prstGeom prst="roundRect">
            <a:avLst>
              <a:gd name="adj" fmla="val 1731"/>
            </a:avLst>
          </a:prstGeom>
          <a:solidFill>
            <a:srgbClr val="EAF2FD"/>
          </a:solidFill>
          <a:ln/>
        </p:spPr>
      </p:sp>
      <p:sp>
        <p:nvSpPr>
          <p:cNvPr id="11" name="Shape 8"/>
          <p:cNvSpPr/>
          <p:nvPr/>
        </p:nvSpPr>
        <p:spPr>
          <a:xfrm>
            <a:off x="6629400" y="173736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463" y="187342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79208" y="1737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84F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展望与改进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6647688" y="2514600"/>
            <a:ext cx="4709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会话升级 JWT / Redis，支持集群部署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列表分页与报表导出（Excel）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多角色权限（店长 / 仓管 / 收银分权）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条码 / 扫码枪接入，出入库扫码登记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移动端小程序，货架旁完成盘点与清理</a:t>
            </a:r>
            <a:endParaRPr lang="en-US" sz="1250" dirty="0"/>
          </a:p>
          <a:p>
            <a:pPr marL="152400" indent="-152400">
              <a:lnSpc>
                <a:spcPct val="112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0F1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销售订单对接收银系统自动出库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64008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B3A6B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64008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B3A6B">
              <a:alpha val="93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0" y="64008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B3A6B">
              <a:alpha val="8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235440" y="141732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B3A6B">
              <a:alpha val="8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012680" y="141732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B3A6B">
              <a:alpha val="7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789920" y="141732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B3A6B">
              <a:alpha val="7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1920240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2A78D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" y="2101291"/>
            <a:ext cx="460858" cy="46085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演示完毕，谢谢观看</a:t>
            </a:r>
            <a:endParaRPr lang="en-US" sz="4600" dirty="0"/>
          </a:p>
        </p:txBody>
      </p:sp>
      <p:sp>
        <p:nvSpPr>
          <p:cNvPr id="11" name="Text 8"/>
          <p:cNvSpPr/>
          <p:nvPr/>
        </p:nvSpPr>
        <p:spPr>
          <a:xfrm>
            <a:off x="868680" y="3977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恳请各位老师批评指正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5897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8B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小明智库 · 超市仓储进销存管理系统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小明智库 · 超市仓储进销存管理系统 答辩汇报</dc:title>
  <dc:subject>PptxGenJS Presentation</dc:subject>
  <dc:creator>小明智库</dc:creator>
  <cp:lastModifiedBy>小明智库</cp:lastModifiedBy>
  <cp:revision>1</cp:revision>
  <dcterms:created xsi:type="dcterms:W3CDTF">2026-07-17T17:34:05Z</dcterms:created>
  <dcterms:modified xsi:type="dcterms:W3CDTF">2026-07-17T17:34:05Z</dcterms:modified>
</cp:coreProperties>
</file>