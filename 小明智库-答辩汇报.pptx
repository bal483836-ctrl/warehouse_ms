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入库</c:v>
                </c:pt>
              </c:strCache>
            </c:strRef>
          </c:tx>
          <c:spPr>
            <a:solidFill>
              <a:srgbClr val="2A78D6"/>
            </a:solidFill>
            <a:ln w="3175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2月</c:v>
                  </c:pt>
                  <c:pt idx="1">
                    <c:v>3月</c:v>
                  </c:pt>
                  <c:pt idx="2">
                    <c:v>4月</c:v>
                  </c:pt>
                  <c:pt idx="3">
                    <c:v>5月</c:v>
                  </c:pt>
                  <c:pt idx="4">
                    <c:v>6月</c:v>
                  </c:pt>
                  <c:pt idx="5">
                    <c:v>7月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144</c:v>
                </c:pt>
                <c:pt idx="1">
                  <c:v>0</c:v>
                </c:pt>
                <c:pt idx="2">
                  <c:v>202</c:v>
                </c:pt>
                <c:pt idx="3">
                  <c:v>228</c:v>
                </c:pt>
                <c:pt idx="4">
                  <c:v>126</c:v>
                </c:pt>
                <c:pt idx="5">
                  <c:v>562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出库</c:v>
                </c:pt>
              </c:strCache>
            </c:strRef>
          </c:tx>
          <c:spPr>
            <a:solidFill>
              <a:srgbClr val="E0603A"/>
            </a:solidFill>
            <a:ln w="31750" cap="flat">
              <a:solidFill>
                <a:srgbClr val="E060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0603A"/>
              </a:solidFill>
              <a:ln w="9525" cap="flat">
                <a:solidFill>
                  <a:srgbClr val="E060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2月</c:v>
                  </c:pt>
                  <c:pt idx="1">
                    <c:v>3月</c:v>
                  </c:pt>
                  <c:pt idx="2">
                    <c:v>4月</c:v>
                  </c:pt>
                  <c:pt idx="3">
                    <c:v>5月</c:v>
                  </c:pt>
                  <c:pt idx="4">
                    <c:v>6月</c:v>
                  </c:pt>
                  <c:pt idx="5">
                    <c:v>7月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327</c:v>
                </c:pt>
                <c:pt idx="1">
                  <c:v>457</c:v>
                </c:pt>
                <c:pt idx="2">
                  <c:v>282</c:v>
                </c:pt>
                <c:pt idx="3">
                  <c:v>103</c:v>
                </c:pt>
                <c:pt idx="4">
                  <c:v>221</c:v>
                </c:pt>
                <c:pt idx="5">
                  <c:v>60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库存</c:v>
                </c:pt>
              </c:strCache>
            </c:strRef>
          </c:tx>
          <c:spPr>
            <a:solidFill>
              <a:srgbClr val="2F9D54"/>
            </a:solidFill>
            <a:ln w="31750" cap="flat">
              <a:solidFill>
                <a:srgbClr val="2F9D5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F9D54"/>
              </a:solidFill>
              <a:ln w="9525" cap="flat">
                <a:solidFill>
                  <a:srgbClr val="2F9D5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2月</c:v>
                  </c:pt>
                  <c:pt idx="1">
                    <c:v>3月</c:v>
                  </c:pt>
                  <c:pt idx="2">
                    <c:v>4月</c:v>
                  </c:pt>
                  <c:pt idx="3">
                    <c:v>5月</c:v>
                  </c:pt>
                  <c:pt idx="4">
                    <c:v>6月</c:v>
                  </c:pt>
                  <c:pt idx="5">
                    <c:v>7月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5860</c:v>
                </c:pt>
                <c:pt idx="1">
                  <c:v>5403</c:v>
                </c:pt>
                <c:pt idx="2">
                  <c:v>5323</c:v>
                </c:pt>
                <c:pt idx="3">
                  <c:v>5448</c:v>
                </c:pt>
                <c:pt idx="4">
                  <c:v>5353</c:v>
                </c:pt>
                <c:pt idx="5">
                  <c:v>5855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9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B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9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6678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931920"/>
            <a:ext cx="749808" cy="749808"/>
          </a:xfrm>
          <a:prstGeom prst="roundRect">
            <a:avLst>
              <a:gd name="adj" fmla="val 10976"/>
            </a:avLst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9281160" y="3931920"/>
            <a:ext cx="749808" cy="749808"/>
          </a:xfrm>
          <a:prstGeom prst="roundRect">
            <a:avLst>
              <a:gd name="adj" fmla="val 10976"/>
            </a:avLst>
          </a:prstGeom>
          <a:solidFill>
            <a:srgbClr val="1B3A6B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3931920"/>
            <a:ext cx="749808" cy="749808"/>
          </a:xfrm>
          <a:prstGeom prst="roundRect">
            <a:avLst>
              <a:gd name="adj" fmla="val 10976"/>
            </a:avLst>
          </a:prstGeom>
          <a:solidFill>
            <a:srgbClr val="1B3A6B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018520" y="3931920"/>
            <a:ext cx="749808" cy="749808"/>
          </a:xfrm>
          <a:prstGeom prst="roundRect">
            <a:avLst>
              <a:gd name="adj" fmla="val 10976"/>
            </a:avLst>
          </a:prstGeom>
          <a:solidFill>
            <a:srgbClr val="1B3A6B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412480" y="4800600"/>
            <a:ext cx="749808" cy="749808"/>
          </a:xfrm>
          <a:prstGeom prst="roundRect">
            <a:avLst>
              <a:gd name="adj" fmla="val 10976"/>
            </a:avLst>
          </a:prstGeom>
          <a:solidFill>
            <a:srgbClr val="1B3A6B">
              <a:alpha val="8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281160" y="4800600"/>
            <a:ext cx="749808" cy="749808"/>
          </a:xfrm>
          <a:prstGeom prst="roundRect">
            <a:avLst>
              <a:gd name="adj" fmla="val 10976"/>
            </a:avLst>
          </a:prstGeom>
          <a:solidFill>
            <a:srgbClr val="1B3A6B">
              <a:alpha val="8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49840" y="4800600"/>
            <a:ext cx="749808" cy="749808"/>
          </a:xfrm>
          <a:prstGeom prst="roundRect">
            <a:avLst>
              <a:gd name="adj" fmla="val 10976"/>
            </a:avLst>
          </a:prstGeom>
          <a:solidFill>
            <a:srgbClr val="1B3A6B">
              <a:alpha val="7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018520" y="4800600"/>
            <a:ext cx="749808" cy="749808"/>
          </a:xfrm>
          <a:prstGeom prst="roundRect">
            <a:avLst>
              <a:gd name="adj" fmla="val 10976"/>
            </a:avLst>
          </a:prstGeom>
          <a:solidFill>
            <a:srgbClr val="1B3A6B">
              <a:alpha val="73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0" y="5669280"/>
            <a:ext cx="749808" cy="749808"/>
          </a:xfrm>
          <a:prstGeom prst="roundRect">
            <a:avLst>
              <a:gd name="adj" fmla="val 10976"/>
            </a:avLst>
          </a:prstGeom>
          <a:solidFill>
            <a:srgbClr val="1B3A6B">
              <a:alpha val="7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281160" y="5669280"/>
            <a:ext cx="749808" cy="749808"/>
          </a:xfrm>
          <a:prstGeom prst="roundRect">
            <a:avLst>
              <a:gd name="adj" fmla="val 10976"/>
            </a:avLst>
          </a:prstGeom>
          <a:solidFill>
            <a:srgbClr val="1B3A6B">
              <a:alpha val="71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149840" y="5669280"/>
            <a:ext cx="749808" cy="749808"/>
          </a:xfrm>
          <a:prstGeom prst="roundRect">
            <a:avLst>
              <a:gd name="adj" fmla="val 10976"/>
            </a:avLst>
          </a:prstGeom>
          <a:solidFill>
            <a:srgbClr val="1B3A6B">
              <a:alpha val="6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018520" y="5669280"/>
            <a:ext cx="749808" cy="749808"/>
          </a:xfrm>
          <a:prstGeom prst="roundRect">
            <a:avLst>
              <a:gd name="adj" fmla="val 10976"/>
            </a:avLst>
          </a:prstGeom>
          <a:solidFill>
            <a:srgbClr val="1B3A6B">
              <a:alpha val="61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914400"/>
            <a:ext cx="932688" cy="932688"/>
          </a:xfrm>
          <a:prstGeom prst="roundRect">
            <a:avLst>
              <a:gd name="adj" fmla="val 22000"/>
            </a:avLst>
          </a:prstGeom>
          <a:solidFill>
            <a:srgbClr val="2A78D6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871" y="1119591"/>
            <a:ext cx="522305" cy="52230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22960" y="205740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小明智库</a:t>
            </a:r>
            <a:endParaRPr lang="en-US" sz="5800" dirty="0"/>
          </a:p>
        </p:txBody>
      </p:sp>
      <p:sp>
        <p:nvSpPr>
          <p:cNvPr id="17" name="Text 14"/>
          <p:cNvSpPr/>
          <p:nvPr/>
        </p:nvSpPr>
        <p:spPr>
          <a:xfrm>
            <a:off x="868680" y="331012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FE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面向超市 / 日用仓库的进销存管理系统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868680" y="4160520"/>
            <a:ext cx="2029968" cy="475488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9525">
            <a:solidFill>
              <a:srgbClr val="2E4E7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416052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订单链路一体化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081528" y="4160520"/>
            <a:ext cx="2029968" cy="475488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9525">
            <a:solidFill>
              <a:srgbClr val="2E4E7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81528" y="416052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库位分区管理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294376" y="4160520"/>
            <a:ext cx="2029968" cy="475488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9525">
            <a:solidFill>
              <a:srgbClr val="2E4E7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94376" y="416052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保质期清理预警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68680" y="5532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0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项目汇报答辩 · 计231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6868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8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　　　　　　汇报时间：2026 / 07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85216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A9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316736"/>
          </a:xfrm>
          <a:prstGeom prst="roundRect">
            <a:avLst>
              <a:gd name="adj" fmla="val 6250"/>
            </a:avLst>
          </a:prstGeom>
          <a:solidFill>
            <a:srgbClr val="F6F9FE"/>
          </a:solidFill>
          <a:ln w="9525">
            <a:solidFill>
              <a:srgbClr val="DFE8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783080" y="191109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需求介绍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83080" y="2423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为什么要做小明智库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49240" cy="1316736"/>
          </a:xfrm>
          <a:prstGeom prst="roundRect">
            <a:avLst>
              <a:gd name="adj" fmla="val 6250"/>
            </a:avLst>
          </a:prstGeom>
          <a:solidFill>
            <a:srgbClr val="F6F9FE"/>
          </a:solidFill>
          <a:ln w="9525">
            <a:solidFill>
              <a:srgbClr val="DF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96596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43800" y="191109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技术介绍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543800" y="2423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技术栈与技术优点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64408"/>
            <a:ext cx="5349240" cy="1316736"/>
          </a:xfrm>
          <a:prstGeom prst="roundRect">
            <a:avLst>
              <a:gd name="adj" fmla="val 6250"/>
            </a:avLst>
          </a:prstGeom>
          <a:solidFill>
            <a:srgbClr val="F6F9FE"/>
          </a:solidFill>
          <a:ln w="9525">
            <a:solidFill>
              <a:srgbClr val="DF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538728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783080" y="348386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项目分工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83080" y="39959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人小组分工表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264408"/>
            <a:ext cx="5349240" cy="1316736"/>
          </a:xfrm>
          <a:prstGeom prst="roundRect">
            <a:avLst>
              <a:gd name="adj" fmla="val 6250"/>
            </a:avLst>
          </a:prstGeom>
          <a:solidFill>
            <a:srgbClr val="F6F9FE"/>
          </a:solidFill>
          <a:ln w="9525">
            <a:solidFill>
              <a:srgbClr val="DF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538728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43800" y="348386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项目功能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543800" y="39959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· 文字 · 图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837176"/>
            <a:ext cx="5349240" cy="1316736"/>
          </a:xfrm>
          <a:prstGeom prst="roundRect">
            <a:avLst>
              <a:gd name="adj" fmla="val 6250"/>
            </a:avLst>
          </a:prstGeom>
          <a:solidFill>
            <a:srgbClr val="F6F9FE"/>
          </a:solidFill>
          <a:ln w="9525">
            <a:solidFill>
              <a:srgbClr val="DFE8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11496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783080" y="50566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783080" y="55686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收获 · 问题与解决 · 升级改进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04672" cy="502920"/>
          </a:xfrm>
          <a:prstGeom prst="roundRect">
            <a:avLst>
              <a:gd name="adj" fmla="val 18182"/>
            </a:avLst>
          </a:prstGeom>
          <a:solidFill>
            <a:srgbClr val="0F25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536192" y="38404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需求介绍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36192" y="969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像「饿了么」方便网上点餐一样 —— 小明智库让超市仓储管理：知库存、明进出、防过期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7919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856232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DC262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513" y="2001073"/>
            <a:ext cx="313822" cy="3138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库存不精确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04672" y="30906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库存靠人记、易出错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账实经常不符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10712" y="1600200"/>
            <a:ext cx="267919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66744" y="1856232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E0920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585" y="2001073"/>
            <a:ext cx="313822" cy="31382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66744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货物追踪难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3666744" y="30906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货放在哪个货架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何时到期无从查起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72784" y="1600200"/>
            <a:ext cx="267919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28816" y="1856232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2A78D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657" y="2001073"/>
            <a:ext cx="313822" cy="31382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28816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流程繁琐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6528816" y="30906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进货卖货没有单据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链路，凭经验操作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134856" y="1600200"/>
            <a:ext cx="267919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390888" y="1856232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2F9D54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5729" y="2001073"/>
            <a:ext cx="313822" cy="31382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90888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耗费人力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9390888" y="30906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对账盘点费时费力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缺货靠人工巡查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48640" y="4526280"/>
            <a:ext cx="11091672" cy="1600200"/>
          </a:xfrm>
          <a:prstGeom prst="roundRect">
            <a:avLst>
              <a:gd name="adj" fmla="val 5143"/>
            </a:avLst>
          </a:prstGeom>
          <a:solidFill>
            <a:srgbClr val="EAF2FD"/>
          </a:solidFill>
          <a:ln/>
        </p:spPr>
      </p:sp>
      <p:sp>
        <p:nvSpPr>
          <p:cNvPr id="27" name="Shape 21"/>
          <p:cNvSpPr/>
          <p:nvPr/>
        </p:nvSpPr>
        <p:spPr>
          <a:xfrm>
            <a:off x="868680" y="486460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184F95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743" y="5000671"/>
            <a:ext cx="294803" cy="29480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691640" y="46817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4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我们要解决的需求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1691640" y="5084064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给超市 / 外部超市仓库做一套仓储管理系统：使用者能明确每个阶段、每个商品的「库存、卖出、买入」，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从而优化仓储、精准进货、科学选品，减少人为干预与损耗。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04672" cy="502920"/>
          </a:xfrm>
          <a:prstGeom prst="roundRect">
            <a:avLst>
              <a:gd name="adj" fmla="val 18182"/>
            </a:avLst>
          </a:prstGeom>
          <a:solidFill>
            <a:srgbClr val="0F25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536192" y="38404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技术介绍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36192" y="969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每项技术的选择都对应一个明确优点：一键运行、零前端构建、便于讲解与部署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6720840" cy="804672"/>
          </a:xfrm>
          <a:prstGeom prst="roundRect">
            <a:avLst>
              <a:gd name="adj" fmla="val 10227"/>
            </a:avLst>
          </a:prstGeom>
          <a:solidFill>
            <a:srgbClr val="F6F9FE"/>
          </a:solidFill>
          <a:ln w="9525">
            <a:solidFill>
              <a:srgbClr val="DFE8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170078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2A78D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1832458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664208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3.3.5（Java 17）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200253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优点：约定优于配置，内嵌 Tomcat，一键启动零外部依赖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505456"/>
            <a:ext cx="6720840" cy="804672"/>
          </a:xfrm>
          <a:prstGeom prst="roundRect">
            <a:avLst>
              <a:gd name="adj" fmla="val 10227"/>
            </a:avLst>
          </a:prstGeom>
          <a:solidFill>
            <a:srgbClr val="F6F9FE"/>
          </a:solidFill>
          <a:ln w="9525">
            <a:solidFill>
              <a:srgbClr val="DFE8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4944" y="26334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2A78D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18" y="2765146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596896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Data JPA + JdbcTemplate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417320" y="293522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优点：CRUD 零 SQL 自动生成；统计报表用原生 SQL 性能可控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438144"/>
            <a:ext cx="6720840" cy="804672"/>
          </a:xfrm>
          <a:prstGeom prst="roundRect">
            <a:avLst>
              <a:gd name="adj" fmla="val 10227"/>
            </a:avLst>
          </a:prstGeom>
          <a:solidFill>
            <a:srgbClr val="F6F9FE"/>
          </a:solidFill>
          <a:ln w="9525">
            <a:solidFill>
              <a:srgbClr val="DFE8F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4944" y="356616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2F9D5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369783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529584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417320" y="386791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优点：成熟稳定；SQL 脚本统一管理表结构，环境可一键重建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4370832"/>
            <a:ext cx="6720840" cy="804672"/>
          </a:xfrm>
          <a:prstGeom prst="roundRect">
            <a:avLst>
              <a:gd name="adj" fmla="val 10227"/>
            </a:avLst>
          </a:prstGeom>
          <a:solidFill>
            <a:srgbClr val="F6F9FE"/>
          </a:solidFill>
          <a:ln w="9525">
            <a:solidFill>
              <a:srgbClr val="DFE8F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94944" y="449884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2A78D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8" y="4630522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446227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HTML / CSS / JavaScript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417320" y="480060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优点：零框架零构建，打开即用；763 行实现完整单页应用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5303520"/>
            <a:ext cx="6720840" cy="804672"/>
          </a:xfrm>
          <a:prstGeom prst="roundRect">
            <a:avLst>
              <a:gd name="adj" fmla="val 10227"/>
            </a:avLst>
          </a:prstGeom>
          <a:solidFill>
            <a:srgbClr val="F6F9FE"/>
          </a:solidFill>
          <a:ln w="9525">
            <a:solidFill>
              <a:srgbClr val="DFE8F5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94944" y="5431536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2A78D6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8" y="5563210"/>
            <a:ext cx="285293" cy="28529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417320" y="539496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Maven · IDEA · Git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1417320" y="573328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优点：标准化构建；分支协作互不阻塞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7635240" y="1572768"/>
            <a:ext cx="4005072" cy="4553712"/>
          </a:xfrm>
          <a:prstGeom prst="roundRect">
            <a:avLst>
              <a:gd name="adj" fmla="val 2055"/>
            </a:avLst>
          </a:prstGeom>
          <a:solidFill>
            <a:srgbClr val="0F2547"/>
          </a:solidFill>
          <a:ln/>
        </p:spPr>
      </p:sp>
      <p:sp>
        <p:nvSpPr>
          <p:cNvPr id="32" name="Text 25"/>
          <p:cNvSpPr/>
          <p:nvPr/>
        </p:nvSpPr>
        <p:spPr>
          <a:xfrm>
            <a:off x="795528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工程规模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7955280" y="23317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3000" dirty="0"/>
          </a:p>
        </p:txBody>
      </p:sp>
      <p:sp>
        <p:nvSpPr>
          <p:cNvPr id="34" name="Text 27"/>
          <p:cNvSpPr/>
          <p:nvPr/>
        </p:nvSpPr>
        <p:spPr>
          <a:xfrm>
            <a:off x="9646920" y="24963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 REST 控制器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7955280" y="326440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3000" dirty="0"/>
          </a:p>
        </p:txBody>
      </p:sp>
      <p:sp>
        <p:nvSpPr>
          <p:cNvPr id="36" name="Text 29"/>
          <p:cNvSpPr/>
          <p:nvPr/>
        </p:nvSpPr>
        <p:spPr>
          <a:xfrm>
            <a:off x="964692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张数据表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7955280" y="419709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2200+</a:t>
            </a:r>
            <a:endParaRPr lang="en-US" sz="3000" dirty="0"/>
          </a:p>
        </p:txBody>
      </p:sp>
      <p:sp>
        <p:nvSpPr>
          <p:cNvPr id="38" name="Text 31"/>
          <p:cNvSpPr/>
          <p:nvPr/>
        </p:nvSpPr>
        <p:spPr>
          <a:xfrm>
            <a:off x="9646920" y="43616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行后端 Java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7955280" y="512978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763</a:t>
            </a:r>
            <a:endParaRPr lang="en-US" sz="3000" dirty="0"/>
          </a:p>
        </p:txBody>
      </p:sp>
      <p:sp>
        <p:nvSpPr>
          <p:cNvPr id="40" name="Text 33"/>
          <p:cNvSpPr/>
          <p:nvPr/>
        </p:nvSpPr>
        <p:spPr>
          <a:xfrm>
            <a:off x="9646920" y="52943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行前端 JS（SPA）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04672" cy="502920"/>
          </a:xfrm>
          <a:prstGeom prst="roundRect">
            <a:avLst>
              <a:gd name="adj" fmla="val 18182"/>
            </a:avLst>
          </a:prstGeom>
          <a:solidFill>
            <a:srgbClr val="0F25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536192" y="38404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36192" y="969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前后端分离的三层架构，接口统一返回 Result{code, msg, data}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88720" y="1645920"/>
            <a:ext cx="9811512" cy="1261872"/>
          </a:xfrm>
          <a:prstGeom prst="roundRect">
            <a:avLst>
              <a:gd name="adj" fmla="val 6522"/>
            </a:avLst>
          </a:prstGeom>
          <a:solidFill>
            <a:srgbClr val="EAF2FD"/>
          </a:solidFill>
          <a:ln w="9525">
            <a:solidFill>
              <a:srgbClr val="DFE8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81328" y="1975104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2A78D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6169" y="2119945"/>
            <a:ext cx="313822" cy="3138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377440" y="18288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 · 单页应用 SPA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2377440" y="230428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hash 路由 · 就地视图 + 面包屑 · SVG 手绘图表 · 铃铛提示 · 图片压缩上传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70448" y="2926080"/>
            <a:ext cx="457200" cy="347472"/>
          </a:xfrm>
          <a:prstGeom prst="downArrow">
            <a:avLst/>
          </a:prstGeom>
          <a:solidFill>
            <a:srgbClr val="CFE3FB"/>
          </a:solidFill>
          <a:ln/>
        </p:spPr>
      </p:sp>
      <p:sp>
        <p:nvSpPr>
          <p:cNvPr id="12" name="Shape 9"/>
          <p:cNvSpPr/>
          <p:nvPr/>
        </p:nvSpPr>
        <p:spPr>
          <a:xfrm>
            <a:off x="1188720" y="3273552"/>
            <a:ext cx="9811512" cy="1261872"/>
          </a:xfrm>
          <a:prstGeom prst="roundRect">
            <a:avLst>
              <a:gd name="adj" fmla="val 6522"/>
            </a:avLst>
          </a:prstGeom>
          <a:solidFill>
            <a:srgbClr val="0F2547"/>
          </a:solidFill>
          <a:ln/>
        </p:spPr>
      </p:sp>
      <p:sp>
        <p:nvSpPr>
          <p:cNvPr id="13" name="Shape 10"/>
          <p:cNvSpPr/>
          <p:nvPr/>
        </p:nvSpPr>
        <p:spPr>
          <a:xfrm>
            <a:off x="1481328" y="3602736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2A78D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169" y="3747577"/>
            <a:ext cx="313822" cy="31382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377440" y="34564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3.3.5 · REST API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2377440" y="39319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鉴权拦截器 → 操作日志拦截器 → 25 个控制器 → 统一 Result 响应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870448" y="4553712"/>
            <a:ext cx="457200" cy="347472"/>
          </a:xfrm>
          <a:prstGeom prst="downArrow">
            <a:avLst/>
          </a:prstGeom>
          <a:solidFill>
            <a:srgbClr val="CFE3FB"/>
          </a:solidFill>
          <a:ln/>
        </p:spPr>
      </p:sp>
      <p:sp>
        <p:nvSpPr>
          <p:cNvPr id="18" name="Shape 14"/>
          <p:cNvSpPr/>
          <p:nvPr/>
        </p:nvSpPr>
        <p:spPr>
          <a:xfrm>
            <a:off x="1188720" y="4901184"/>
            <a:ext cx="9811512" cy="1261872"/>
          </a:xfrm>
          <a:prstGeom prst="roundRect">
            <a:avLst>
              <a:gd name="adj" fmla="val 6522"/>
            </a:avLst>
          </a:prstGeom>
          <a:solidFill>
            <a:srgbClr val="EAF2FD"/>
          </a:solidFill>
          <a:ln w="9525">
            <a:solidFill>
              <a:srgbClr val="DFE8F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481328" y="5230368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2F9D5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169" y="5375209"/>
            <a:ext cx="313822" cy="31382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377440" y="50840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 · 库 ahut_base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2377440" y="5559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张表 · JPA 实体映射 + JdbcTemplate 统计聚合 · ddl-auto:none 以 SQL 脚本为准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6583680" y="30540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+ JSON（请求头携带 token）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04672" cy="502920"/>
          </a:xfrm>
          <a:prstGeom prst="roundRect">
            <a:avLst>
              <a:gd name="adj" fmla="val 18182"/>
            </a:avLst>
          </a:prstGeom>
          <a:solidFill>
            <a:srgbClr val="0F25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536192" y="38404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项目分工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36192" y="969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人小组 · 前后端全栈协作 · Git 分支协作开发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798271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班级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姓名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负责模块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A99B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计231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1B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侯皖婷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前端样式设计，后端登录认证、用户管理、角色管理、菜单管理等功能开发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A99B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计231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1B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李明利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出入库管理、库存记录功能开发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A99B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计231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1B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刘珊珊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仓库管理、商品分类、商品档案功能开发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A99B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计231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1B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何思雨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供应商管理、客户管理、批次/保质期功能开发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A99B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计231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1B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谢雨欣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库存预警、库存盘点、货位管理功能开发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A99B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计231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1B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钱思娴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图表统计、操作日志、系统公告、个人中心功能开发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注：部分模块在最终版按真实业务重构 —— 批次/保质期并入商品档案，系统公告升级为智能提示铃铛，用户/角色管理简化为个人资料。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04672" cy="502920"/>
          </a:xfrm>
          <a:prstGeom prst="roundRect">
            <a:avLst>
              <a:gd name="adj" fmla="val 18182"/>
            </a:avLst>
          </a:prstGeom>
          <a:solidFill>
            <a:srgbClr val="0F25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536192" y="38404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项目功能 · 模块总览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36192" y="969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个功能入口 · 全站中文 · 就地视图少弹窗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17904"/>
            <a:ext cx="267919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190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A78D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28800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35024" y="16824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运营总览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68096" y="23865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 · 趋势 · 分类占比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10712" y="1517904"/>
            <a:ext cx="267919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11880" y="17190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C262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1828800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97096" y="16824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预警看板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630168" y="23865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补货预警 + 清理预警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72784" y="1517904"/>
            <a:ext cx="267919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73952" y="17190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F9D5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28800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59168" y="16824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出入库操作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92240" y="23865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落位 · 订单 · 收货凭证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134856" y="1517904"/>
            <a:ext cx="267919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336024" y="17190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A78D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752" y="1828800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921240" y="16824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采购订单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354312" y="23865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 · 多行明细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3145536"/>
            <a:ext cx="267919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49808" y="334670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0920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3456432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335024" y="33101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销售订单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768096" y="40142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外卖式卡片 · 取消留痕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3410712" y="3145536"/>
            <a:ext cx="267919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3611880" y="334670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F9D54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1608" y="3456432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197096" y="33101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商品档案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3630168" y="40142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 · 分区 · 保质期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272784" y="3145536"/>
            <a:ext cx="267919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473952" y="334670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84F95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3456432"/>
            <a:ext cx="237744" cy="23774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059168" y="33101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货位管理</a:t>
            </a:r>
            <a:endParaRPr lang="en-US" sz="1350" dirty="0"/>
          </a:p>
        </p:txBody>
      </p:sp>
      <p:sp>
        <p:nvSpPr>
          <p:cNvPr id="40" name="Text 31"/>
          <p:cNvSpPr/>
          <p:nvPr/>
        </p:nvSpPr>
        <p:spPr>
          <a:xfrm>
            <a:off x="6492240" y="40142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 · 存放明细 · 剩余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9134856" y="3145536"/>
            <a:ext cx="267919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9336024" y="334670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A78D6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5752" y="3456432"/>
            <a:ext cx="237744" cy="237744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921240" y="33101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</a:t>
            </a:r>
            <a:endParaRPr lang="en-US" sz="1350" dirty="0"/>
          </a:p>
        </p:txBody>
      </p:sp>
      <p:sp>
        <p:nvSpPr>
          <p:cNvPr id="45" name="Text 35"/>
          <p:cNvSpPr/>
          <p:nvPr/>
        </p:nvSpPr>
        <p:spPr>
          <a:xfrm>
            <a:off x="9354312" y="40142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 · 所供商品下钻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548640" y="4773168"/>
            <a:ext cx="267919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749808" y="49743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0920A"/>
          </a:solidFill>
          <a:ln/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536" y="5084064"/>
            <a:ext cx="237744" cy="237744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1335024" y="4937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预警阈值</a:t>
            </a:r>
            <a:endParaRPr lang="en-US" sz="1350" dirty="0"/>
          </a:p>
        </p:txBody>
      </p:sp>
      <p:sp>
        <p:nvSpPr>
          <p:cNvPr id="50" name="Text 39"/>
          <p:cNvSpPr/>
          <p:nvPr/>
        </p:nvSpPr>
        <p:spPr>
          <a:xfrm>
            <a:off x="768096" y="56418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安全下限 / 库存上限</a:t>
            </a:r>
            <a:endParaRPr lang="en-US" sz="1050" dirty="0"/>
          </a:p>
        </p:txBody>
      </p:sp>
      <p:sp>
        <p:nvSpPr>
          <p:cNvPr id="51" name="Shape 40"/>
          <p:cNvSpPr/>
          <p:nvPr/>
        </p:nvSpPr>
        <p:spPr>
          <a:xfrm>
            <a:off x="3410712" y="4773168"/>
            <a:ext cx="267919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52" name="Shape 41"/>
          <p:cNvSpPr/>
          <p:nvPr/>
        </p:nvSpPr>
        <p:spPr>
          <a:xfrm>
            <a:off x="3611880" y="49743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84F95"/>
          </a:solidFill>
          <a:ln/>
        </p:spPr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21608" y="5084064"/>
            <a:ext cx="237744" cy="237744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4197096" y="4937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操作日志</a:t>
            </a:r>
            <a:endParaRPr lang="en-US" sz="1350" dirty="0"/>
          </a:p>
        </p:txBody>
      </p:sp>
      <p:sp>
        <p:nvSpPr>
          <p:cNvPr id="55" name="Text 43"/>
          <p:cNvSpPr/>
          <p:nvPr/>
        </p:nvSpPr>
        <p:spPr>
          <a:xfrm>
            <a:off x="3630168" y="56418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写操作自动留痕</a:t>
            </a:r>
            <a:endParaRPr lang="en-US" sz="1050" dirty="0"/>
          </a:p>
        </p:txBody>
      </p:sp>
      <p:sp>
        <p:nvSpPr>
          <p:cNvPr id="56" name="Shape 44"/>
          <p:cNvSpPr/>
          <p:nvPr/>
        </p:nvSpPr>
        <p:spPr>
          <a:xfrm>
            <a:off x="6272784" y="4773168"/>
            <a:ext cx="267919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57" name="Shape 45"/>
          <p:cNvSpPr/>
          <p:nvPr/>
        </p:nvSpPr>
        <p:spPr>
          <a:xfrm>
            <a:off x="6473952" y="49743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F9D54"/>
          </a:solidFill>
          <a:ln/>
        </p:spPr>
      </p:sp>
      <p:pic>
        <p:nvPicPr>
          <p:cNvPr id="5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0" y="5084064"/>
            <a:ext cx="237744" cy="237744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7059168" y="4937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个人资料</a:t>
            </a:r>
            <a:endParaRPr lang="en-US" sz="1350" dirty="0"/>
          </a:p>
        </p:txBody>
      </p:sp>
      <p:sp>
        <p:nvSpPr>
          <p:cNvPr id="60" name="Text 47"/>
          <p:cNvSpPr/>
          <p:nvPr/>
        </p:nvSpPr>
        <p:spPr>
          <a:xfrm>
            <a:off x="6492240" y="56418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 · 修改密码</a:t>
            </a:r>
            <a:endParaRPr lang="en-US" sz="1050" dirty="0"/>
          </a:p>
        </p:txBody>
      </p:sp>
      <p:sp>
        <p:nvSpPr>
          <p:cNvPr id="61" name="Shape 48"/>
          <p:cNvSpPr/>
          <p:nvPr/>
        </p:nvSpPr>
        <p:spPr>
          <a:xfrm>
            <a:off x="9134856" y="4773168"/>
            <a:ext cx="267919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62" name="Shape 49"/>
          <p:cNvSpPr/>
          <p:nvPr/>
        </p:nvSpPr>
        <p:spPr>
          <a:xfrm>
            <a:off x="9336024" y="49743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C2626"/>
          </a:solidFill>
          <a:ln/>
        </p:spPr>
      </p:sp>
      <p:pic>
        <p:nvPicPr>
          <p:cNvPr id="6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45752" y="5084064"/>
            <a:ext cx="237744" cy="237744"/>
          </a:xfrm>
          <a:prstGeom prst="rect">
            <a:avLst/>
          </a:prstGeom>
        </p:spPr>
      </p:pic>
      <p:sp>
        <p:nvSpPr>
          <p:cNvPr id="64" name="Text 50"/>
          <p:cNvSpPr/>
          <p:nvPr/>
        </p:nvSpPr>
        <p:spPr>
          <a:xfrm>
            <a:off x="9921240" y="4937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系统提示铃铛</a:t>
            </a:r>
            <a:endParaRPr lang="en-US" sz="1350" dirty="0"/>
          </a:p>
        </p:txBody>
      </p:sp>
      <p:sp>
        <p:nvSpPr>
          <p:cNvPr id="65" name="Text 51"/>
          <p:cNvSpPr/>
          <p:nvPr/>
        </p:nvSpPr>
        <p:spPr>
          <a:xfrm>
            <a:off x="9354312" y="56418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补货 / 清理实时提示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04672" cy="502920"/>
          </a:xfrm>
          <a:prstGeom prst="roundRect">
            <a:avLst>
              <a:gd name="adj" fmla="val 18182"/>
            </a:avLst>
          </a:prstGeom>
          <a:solidFill>
            <a:srgbClr val="0F25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536192" y="38404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项目功能 · 核心业务链路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36192" y="969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 → 采购 → 入库 → 库存 / 货位 → 销售 → 出库，全链路真实数据互通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1627632" cy="1783080"/>
          </a:xfrm>
          <a:prstGeom prst="roundRect">
            <a:avLst>
              <a:gd name="adj" fmla="val 5056"/>
            </a:avLst>
          </a:prstGeom>
          <a:solidFill>
            <a:srgbClr val="F6F9FE"/>
          </a:solidFill>
          <a:ln w="9525">
            <a:solidFill>
              <a:srgbClr val="DFE8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" y="1874520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2A78D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8588" y="2014972"/>
            <a:ext cx="304312" cy="304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648" y="257860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212848" y="2450592"/>
            <a:ext cx="292608" cy="274320"/>
          </a:xfrm>
          <a:prstGeom prst="rightArrow">
            <a:avLst/>
          </a:prstGeom>
          <a:solidFill>
            <a:srgbClr val="CFE3FB"/>
          </a:solidFill>
          <a:ln/>
        </p:spPr>
      </p:sp>
      <p:sp>
        <p:nvSpPr>
          <p:cNvPr id="11" name="Shape 8"/>
          <p:cNvSpPr/>
          <p:nvPr/>
        </p:nvSpPr>
        <p:spPr>
          <a:xfrm>
            <a:off x="2514600" y="1691640"/>
            <a:ext cx="1627632" cy="1783080"/>
          </a:xfrm>
          <a:prstGeom prst="roundRect">
            <a:avLst>
              <a:gd name="adj" fmla="val 5056"/>
            </a:avLst>
          </a:prstGeom>
          <a:solidFill>
            <a:srgbClr val="F6F9FE"/>
          </a:solidFill>
          <a:ln w="9525">
            <a:solidFill>
              <a:srgbClr val="DFE8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035808" y="1874520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184F9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260" y="2014972"/>
            <a:ext cx="304312" cy="304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60320" y="257860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采购订单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560320" y="292608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 单号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160520" y="2450592"/>
            <a:ext cx="292608" cy="274320"/>
          </a:xfrm>
          <a:prstGeom prst="rightArrow">
            <a:avLst/>
          </a:prstGeom>
          <a:solidFill>
            <a:srgbClr val="CFE3FB"/>
          </a:solidFill>
          <a:ln/>
        </p:spPr>
      </p:sp>
      <p:sp>
        <p:nvSpPr>
          <p:cNvPr id="17" name="Shape 13"/>
          <p:cNvSpPr/>
          <p:nvPr/>
        </p:nvSpPr>
        <p:spPr>
          <a:xfrm>
            <a:off x="4462272" y="1691640"/>
            <a:ext cx="1627632" cy="1783080"/>
          </a:xfrm>
          <a:prstGeom prst="roundRect">
            <a:avLst>
              <a:gd name="adj" fmla="val 5056"/>
            </a:avLst>
          </a:prstGeom>
          <a:solidFill>
            <a:srgbClr val="F6F9FE"/>
          </a:solidFill>
          <a:ln w="9525">
            <a:solidFill>
              <a:srgbClr val="DFE8F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983480" y="1874520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2A78D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932" y="2014972"/>
            <a:ext cx="304312" cy="304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07992" y="257860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入库·落位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07992" y="292608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分区匹配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自动算到期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108192" y="2450592"/>
            <a:ext cx="292608" cy="274320"/>
          </a:xfrm>
          <a:prstGeom prst="rightArrow">
            <a:avLst/>
          </a:prstGeom>
          <a:solidFill>
            <a:srgbClr val="CFE3FB"/>
          </a:solidFill>
          <a:ln/>
        </p:spPr>
      </p:sp>
      <p:sp>
        <p:nvSpPr>
          <p:cNvPr id="23" name="Shape 18"/>
          <p:cNvSpPr/>
          <p:nvPr/>
        </p:nvSpPr>
        <p:spPr>
          <a:xfrm>
            <a:off x="6409944" y="1691640"/>
            <a:ext cx="1627632" cy="1783080"/>
          </a:xfrm>
          <a:prstGeom prst="roundRect">
            <a:avLst>
              <a:gd name="adj" fmla="val 5056"/>
            </a:avLst>
          </a:prstGeom>
          <a:solidFill>
            <a:srgbClr val="F6F9FE"/>
          </a:solidFill>
          <a:ln w="9525">
            <a:solidFill>
              <a:srgbClr val="DFE8F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931152" y="1874520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184F95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604" y="2014972"/>
            <a:ext cx="304312" cy="3043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455664" y="257860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库存·货位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455664" y="292608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批次粒度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8055864" y="2450592"/>
            <a:ext cx="292608" cy="274320"/>
          </a:xfrm>
          <a:prstGeom prst="rightArrow">
            <a:avLst/>
          </a:prstGeom>
          <a:solidFill>
            <a:srgbClr val="CFE3FB"/>
          </a:solidFill>
          <a:ln/>
        </p:spPr>
      </p:sp>
      <p:sp>
        <p:nvSpPr>
          <p:cNvPr id="29" name="Shape 23"/>
          <p:cNvSpPr/>
          <p:nvPr/>
        </p:nvSpPr>
        <p:spPr>
          <a:xfrm>
            <a:off x="8357616" y="1691640"/>
            <a:ext cx="1627632" cy="1783080"/>
          </a:xfrm>
          <a:prstGeom prst="roundRect">
            <a:avLst>
              <a:gd name="adj" fmla="val 5056"/>
            </a:avLst>
          </a:prstGeom>
          <a:solidFill>
            <a:srgbClr val="F6F9FE"/>
          </a:solidFill>
          <a:ln w="9525">
            <a:solidFill>
              <a:srgbClr val="DFE8F5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878824" y="1874520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2A78D6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9276" y="2014972"/>
            <a:ext cx="304312" cy="30431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403336" y="257860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销售订单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8403336" y="292608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买家+经手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10003536" y="2450592"/>
            <a:ext cx="292608" cy="274320"/>
          </a:xfrm>
          <a:prstGeom prst="rightArrow">
            <a:avLst/>
          </a:prstGeom>
          <a:solidFill>
            <a:srgbClr val="CFE3FB"/>
          </a:solidFill>
          <a:ln/>
        </p:spPr>
      </p:sp>
      <p:sp>
        <p:nvSpPr>
          <p:cNvPr id="35" name="Shape 28"/>
          <p:cNvSpPr/>
          <p:nvPr/>
        </p:nvSpPr>
        <p:spPr>
          <a:xfrm>
            <a:off x="10305288" y="1691640"/>
            <a:ext cx="1627632" cy="1783080"/>
          </a:xfrm>
          <a:prstGeom prst="roundRect">
            <a:avLst>
              <a:gd name="adj" fmla="val 5056"/>
            </a:avLst>
          </a:prstGeom>
          <a:solidFill>
            <a:srgbClr val="F6F9FE"/>
          </a:solidFill>
          <a:ln w="9525">
            <a:solidFill>
              <a:srgbClr val="DFE8F5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10826496" y="1874520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184F95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6948" y="2014972"/>
            <a:ext cx="304312" cy="30431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0351008" y="257860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出库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10351008" y="292608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先到期先出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548640" y="397764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EAF2FD"/>
          </a:solidFill>
          <a:ln/>
        </p:spPr>
      </p:sp>
      <p:sp>
        <p:nvSpPr>
          <p:cNvPr id="41" name="Shape 33"/>
          <p:cNvSpPr/>
          <p:nvPr/>
        </p:nvSpPr>
        <p:spPr>
          <a:xfrm>
            <a:off x="822960" y="425196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0920A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023" y="4388023"/>
            <a:ext cx="294803" cy="294803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600200" y="42245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补货预警闭环</a:t>
            </a:r>
            <a:endParaRPr lang="en-US" sz="1500" dirty="0"/>
          </a:p>
        </p:txBody>
      </p:sp>
      <p:sp>
        <p:nvSpPr>
          <p:cNvPr id="44" name="Text 35"/>
          <p:cNvSpPr/>
          <p:nvPr/>
        </p:nvSpPr>
        <p:spPr>
          <a:xfrm>
            <a:off x="841248" y="495604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出库跌破安全下限 → 铃铛/看板提示补货 → 采购入库 → 库存回升，提示自动消失</a:t>
            </a:r>
            <a:endParaRPr lang="en-US" sz="1200" dirty="0"/>
          </a:p>
        </p:txBody>
      </p:sp>
      <p:sp>
        <p:nvSpPr>
          <p:cNvPr id="45" name="Shape 36"/>
          <p:cNvSpPr/>
          <p:nvPr/>
        </p:nvSpPr>
        <p:spPr>
          <a:xfrm>
            <a:off x="6245352" y="397764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EAF2FD"/>
          </a:solidFill>
          <a:ln/>
        </p:spPr>
      </p:sp>
      <p:sp>
        <p:nvSpPr>
          <p:cNvPr id="46" name="Shape 37"/>
          <p:cNvSpPr/>
          <p:nvPr/>
        </p:nvSpPr>
        <p:spPr>
          <a:xfrm>
            <a:off x="6519672" y="425196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DC2626"/>
          </a:solidFill>
          <a:ln/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5735" y="4388023"/>
            <a:ext cx="294803" cy="294803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7296912" y="42245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清理预警闭环</a:t>
            </a:r>
            <a:endParaRPr lang="en-US" sz="1500" dirty="0"/>
          </a:p>
        </p:txBody>
      </p:sp>
      <p:sp>
        <p:nvSpPr>
          <p:cNvPr id="49" name="Text 39"/>
          <p:cNvSpPr/>
          <p:nvPr/>
        </p:nvSpPr>
        <p:spPr>
          <a:xfrm>
            <a:off x="6537960" y="495604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入库自动算到期日 → 到期前 N 天提示清理 → 出库/清理批次 → 提示自动消失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04672" cy="502920"/>
          </a:xfrm>
          <a:prstGeom prst="roundRect">
            <a:avLst>
              <a:gd name="adj" fmla="val 18182"/>
            </a:avLst>
          </a:prstGeom>
          <a:solidFill>
            <a:srgbClr val="0F25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536192" y="38404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项目功能 · 数据库设计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36192" y="969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21 张表（9 张核心业务表）· 逻辑外键 · 表结构由 SQL 脚本统一管理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3639312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7739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86384" y="2130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商品档案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86384" y="249631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分区 zone · 保质期 · 预警提前天数 · 图片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70832" y="1627632"/>
            <a:ext cx="3639312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7739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goodstype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08576" y="2130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商品分类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08576" y="249631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分类名 · 备注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93024" y="1627632"/>
            <a:ext cx="3639312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17739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30768" y="2130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30768" y="249631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数码 / 食品 / 生鲜 / 日用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145536"/>
            <a:ext cx="3639312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86384" y="36484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货位（货架）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86384" y="401421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 · 分区 · 排列 · 容量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70832" y="3145536"/>
            <a:ext cx="3639312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08576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location_stock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608576" y="36484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库位批次存货 ★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608576" y="401421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 · 入库日期 · 到期日期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93024" y="3145536"/>
            <a:ext cx="3639312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30768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430768" y="36484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出入库流水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30768" y="401421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 · 关联订单 · 落位 · 凭证图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663440"/>
            <a:ext cx="3639312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48097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86384" y="51663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订单主表 ★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86384" y="55321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采购/销售 · 买家 · 经手 · 取消原因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70832" y="4663440"/>
            <a:ext cx="3639312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08576" y="48097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608576" y="51663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订单明细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608576" y="55321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 · 数量 · 单价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93024" y="4663440"/>
            <a:ext cx="3639312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30768" y="48097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stock_alert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430768" y="51663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预警阈值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430768" y="55321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安全下限 · 上限 · 启用状态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04672" cy="502920"/>
          </a:xfrm>
          <a:prstGeom prst="roundRect">
            <a:avLst>
              <a:gd name="adj" fmla="val 18182"/>
            </a:avLst>
          </a:prstGeom>
          <a:solidFill>
            <a:srgbClr val="0F25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536192" y="38404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项目功能 · 登录与安全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36192" y="969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宽版两栏登录页 + 全链路安全机制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86400" cy="4526280"/>
          </a:xfrm>
          <a:prstGeom prst="roundRect">
            <a:avLst>
              <a:gd name="adj" fmla="val 1818"/>
            </a:avLst>
          </a:prstGeom>
          <a:solidFill>
            <a:srgbClr val="F6F9FE"/>
          </a:solidFill>
          <a:ln w="9525">
            <a:solidFill>
              <a:srgbClr val="DFE8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7452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2A78D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10583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1874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登录页设计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59536" y="26974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宽版两栏：左侧登录表单，右侧仓库实景图 + 宣传语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密码框内置显隐按钮（小眼睛），点击切换明文/密文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登录成功签发 token 存入浏览器，随每次请求携带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任意接口返回 401 时自动清除会话并回到登录页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演示账号提示直接印在表单下方，答辩演示零门槛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55080" y="1600200"/>
            <a:ext cx="5285232" cy="4526280"/>
          </a:xfrm>
          <a:prstGeom prst="roundRect">
            <a:avLst>
              <a:gd name="adj" fmla="val 1818"/>
            </a:avLst>
          </a:prstGeom>
          <a:solidFill>
            <a:srgbClr val="0F2547"/>
          </a:solidFill>
          <a:ln/>
        </p:spPr>
      </p:sp>
      <p:sp>
        <p:nvSpPr>
          <p:cNvPr id="12" name="Text 9"/>
          <p:cNvSpPr/>
          <p:nvPr/>
        </p:nvSpPr>
        <p:spPr>
          <a:xfrm>
            <a:off x="667512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安全机制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675120" y="2487168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2A78D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015" y="2610063"/>
            <a:ext cx="266273" cy="26627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60920" y="24505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口令加盐散列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7360920" y="2798064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md5( md5(密码) + 盐 )，每用户独立盐值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675120" y="3401568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2A78D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015" y="3524463"/>
            <a:ext cx="266273" cy="2662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60920" y="33649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会话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360920" y="3712464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服务端签发 UUID 令牌，拦截器统一校验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675120" y="4315968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2A78D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015" y="4438863"/>
            <a:ext cx="266273" cy="26627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60920" y="42793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修改密码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360920" y="4626864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校验原密码后按原盐重新散列保存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675120" y="5230368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2A78D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8015" y="5353263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60920" y="51937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操作留痕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360920" y="5541264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全部写操作自动写入操作日志表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04672" cy="502920"/>
          </a:xfrm>
          <a:prstGeom prst="roundRect">
            <a:avLst>
              <a:gd name="adj" fmla="val 18182"/>
            </a:avLst>
          </a:prstGeom>
          <a:solidFill>
            <a:srgbClr val="0F25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536192" y="38404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项目功能 · 出入库与保质期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36192" y="969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入库四步闭环，单事务保证「库存 / 批次 / 流水」三处数据永远一致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679192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883664"/>
            <a:ext cx="548640" cy="54864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86384" y="2606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选货物与数量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86384" y="30175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可关联采购/销售订单，可上传收货凭证照片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200400" y="2697480"/>
            <a:ext cx="256032" cy="237744"/>
          </a:xfrm>
          <a:prstGeom prst="rightArrow">
            <a:avLst/>
          </a:prstGeom>
          <a:solidFill>
            <a:srgbClr val="CFE3FB"/>
          </a:solidFill>
          <a:ln/>
        </p:spPr>
      </p:sp>
      <p:sp>
        <p:nvSpPr>
          <p:cNvPr id="12" name="Shape 10"/>
          <p:cNvSpPr/>
          <p:nvPr/>
        </p:nvSpPr>
        <p:spPr>
          <a:xfrm>
            <a:off x="3410712" y="1645920"/>
            <a:ext cx="2679192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1883664"/>
            <a:ext cx="548640" cy="54864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4" name="Text 12"/>
          <p:cNvSpPr/>
          <p:nvPr/>
        </p:nvSpPr>
        <p:spPr>
          <a:xfrm>
            <a:off x="3648456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648456" y="2606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选落位库位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48456" y="30175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只列出与商品分区一致的货架，分区不匹配直接拒绝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062472" y="2697480"/>
            <a:ext cx="256032" cy="237744"/>
          </a:xfrm>
          <a:prstGeom prst="rightArrow">
            <a:avLst/>
          </a:prstGeom>
          <a:solidFill>
            <a:srgbClr val="CFE3FB"/>
          </a:solidFill>
          <a:ln/>
        </p:spPr>
      </p:sp>
      <p:sp>
        <p:nvSpPr>
          <p:cNvPr id="18" name="Shape 16"/>
          <p:cNvSpPr/>
          <p:nvPr/>
        </p:nvSpPr>
        <p:spPr>
          <a:xfrm>
            <a:off x="6272784" y="1645920"/>
            <a:ext cx="2679192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10528" y="1883664"/>
            <a:ext cx="548640" cy="54864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20" name="Text 18"/>
          <p:cNvSpPr/>
          <p:nvPr/>
        </p:nvSpPr>
        <p:spPr>
          <a:xfrm>
            <a:off x="6510528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510528" y="2606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自动算到期日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510528" y="30175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到期日 = 入库时间 + 商品保质期天数，写入批次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924544" y="2697480"/>
            <a:ext cx="256032" cy="237744"/>
          </a:xfrm>
          <a:prstGeom prst="rightArrow">
            <a:avLst/>
          </a:prstGeom>
          <a:solidFill>
            <a:srgbClr val="CFE3FB"/>
          </a:solidFill>
          <a:ln/>
        </p:spPr>
      </p:sp>
      <p:sp>
        <p:nvSpPr>
          <p:cNvPr id="24" name="Shape 22"/>
          <p:cNvSpPr/>
          <p:nvPr/>
        </p:nvSpPr>
        <p:spPr>
          <a:xfrm>
            <a:off x="9134856" y="1645920"/>
            <a:ext cx="2679192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72600" y="1883664"/>
            <a:ext cx="548640" cy="54864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26" name="Text 24"/>
          <p:cNvSpPr/>
          <p:nvPr/>
        </p:nvSpPr>
        <p:spPr>
          <a:xfrm>
            <a:off x="9372600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372600" y="2606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事务内三表同步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372600" y="30175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商品库存 + 库位批次 + 出入库流水一次提交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11091672" cy="1737360"/>
          </a:xfrm>
          <a:prstGeom prst="roundRect">
            <a:avLst>
              <a:gd name="adj" fmla="val 4737"/>
            </a:avLst>
          </a:prstGeom>
          <a:solidFill>
            <a:srgbClr val="E7F6E7"/>
          </a:solidFill>
          <a:ln/>
        </p:spPr>
      </p:sp>
      <p:sp>
        <p:nvSpPr>
          <p:cNvPr id="30" name="Shape 28"/>
          <p:cNvSpPr/>
          <p:nvPr/>
        </p:nvSpPr>
        <p:spPr>
          <a:xfrm>
            <a:off x="868680" y="468172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2F9D54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743" y="4817791"/>
            <a:ext cx="294803" cy="294803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691640" y="4526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7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出库策略：先到期先出（FEFO）</a:t>
            </a:r>
            <a:endParaRPr lang="en-US" sz="1550" dirty="0"/>
          </a:p>
        </p:txBody>
      </p:sp>
      <p:sp>
        <p:nvSpPr>
          <p:cNvPr id="33" name="Text 30"/>
          <p:cNvSpPr/>
          <p:nvPr/>
        </p:nvSpPr>
        <p:spPr>
          <a:xfrm>
            <a:off x="1691640" y="498348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同一商品的所有批次按「到期日升序（无到期日排最后）」逐批扣减，批次清零自动删除；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生鲜先出临期货，从机制上减少过期损耗。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04672" cy="502920"/>
          </a:xfrm>
          <a:prstGeom prst="roundRect">
            <a:avLst>
              <a:gd name="adj" fmla="val 18182"/>
            </a:avLst>
          </a:prstGeom>
          <a:solidFill>
            <a:srgbClr val="0F25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536192" y="38404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项目功能 · 订单管理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36192" y="969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 / 销售双单据体系，销售订单按外卖订单形态设计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074920" cy="4526280"/>
          </a:xfrm>
          <a:prstGeom prst="roundRect">
            <a:avLst>
              <a:gd name="adj" fmla="val 1818"/>
            </a:avLst>
          </a:prstGeom>
          <a:solidFill>
            <a:srgbClr val="F6F9FE"/>
          </a:solidFill>
          <a:ln w="9525">
            <a:solidFill>
              <a:srgbClr val="DFE8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74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2A78D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87452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采购订单（对供应商）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59536" y="269748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表格式列表：单号 / 供应商 / 项数 / 总量 / 金额 / 状态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多行商品明细（可增删行），金额按明细自动合计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单号自动生成：PO + 时间戳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入库时可选择关联，形成「订单 → 入库」链路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允许删除（连带删除明细）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0" y="1600200"/>
            <a:ext cx="5696712" cy="4526280"/>
          </a:xfrm>
          <a:prstGeom prst="roundRect">
            <a:avLst>
              <a:gd name="adj" fmla="val 1818"/>
            </a:avLst>
          </a:prstGeom>
          <a:solidFill>
            <a:srgbClr val="F6F9FE"/>
          </a:solidFill>
          <a:ln w="9525">
            <a:solidFill>
              <a:srgbClr val="DFE8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0" y="1874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0920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594" y="200619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49440" y="187452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销售订单（toC 门店零售）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254496" y="2606040"/>
            <a:ext cx="50749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46520" y="27249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SO20260717093000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9692640" y="274320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7F6E7"/>
          </a:solidFill>
          <a:ln/>
        </p:spPr>
      </p:sp>
      <p:sp>
        <p:nvSpPr>
          <p:cNvPr id="18" name="Text 14"/>
          <p:cNvSpPr/>
          <p:nvPr/>
        </p:nvSpPr>
        <p:spPr>
          <a:xfrm>
            <a:off x="9692640" y="274320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7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446520" y="30540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买家：散客·李女士　　经手账号：超级管理员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446520" y="3401568"/>
            <a:ext cx="4663440" cy="0"/>
          </a:xfrm>
          <a:prstGeom prst="line">
            <a:avLst/>
          </a:prstGeom>
          <a:noFill/>
          <a:ln w="9525">
            <a:solidFill>
              <a:srgbClr val="DFE8F5"/>
            </a:solidFill>
            <a:prstDash val="dash"/>
          </a:ln>
        </p:spPr>
      </p:sp>
      <p:sp>
        <p:nvSpPr>
          <p:cNvPr id="21" name="Text 17"/>
          <p:cNvSpPr/>
          <p:nvPr/>
        </p:nvSpPr>
        <p:spPr>
          <a:xfrm>
            <a:off x="6446520" y="3474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旺仔牛奶　　　　×10　　　　¥5.50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9921240" y="3931920"/>
            <a:ext cx="1170432" cy="329184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/>
        </p:spPr>
      </p:sp>
      <p:sp>
        <p:nvSpPr>
          <p:cNvPr id="23" name="Text 19"/>
          <p:cNvSpPr/>
          <p:nvPr/>
        </p:nvSpPr>
        <p:spPr>
          <a:xfrm>
            <a:off x="9921240" y="3931920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取消订单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254496" y="46177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一单一卡：单号、买家、经手账号、明细数量、时间、状态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不可删除（前端无入口 + 后端拒绝，双保险）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取消必须填写原因，原因与时间永久留痕、卡片置灰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04672" cy="502920"/>
          </a:xfrm>
          <a:prstGeom prst="roundRect">
            <a:avLst>
              <a:gd name="adj" fmla="val 18182"/>
            </a:avLst>
          </a:prstGeom>
          <a:solidFill>
            <a:srgbClr val="0F25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536192" y="38404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项目功能 · 货位看板与智能提示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36192" y="969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每个货架「存了什么、还剩多少」一目了然；异常主动找人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86400" cy="4526280"/>
          </a:xfrm>
          <a:prstGeom prst="roundRect">
            <a:avLst>
              <a:gd name="adj" fmla="val 1818"/>
            </a:avLst>
          </a:prstGeom>
          <a:solidFill>
            <a:srgbClr val="F6F9FE"/>
          </a:solidFill>
          <a:ln w="9525">
            <a:solidFill>
              <a:srgbClr val="DFE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货位看板（按分区分组）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4937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4688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普-10-04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94760" y="24963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日用品仓库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51560" y="2871216"/>
            <a:ext cx="4480560" cy="146304"/>
          </a:xfrm>
          <a:prstGeom prst="roundRect">
            <a:avLst>
              <a:gd name="adj" fmla="val 50000"/>
            </a:avLst>
          </a:prstGeom>
          <a:solidFill>
            <a:srgbClr val="EEF2F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1560" y="2871216"/>
            <a:ext cx="806501" cy="146304"/>
          </a:xfrm>
          <a:prstGeom prst="roundRect">
            <a:avLst>
              <a:gd name="adj" fmla="val 50000"/>
            </a:avLst>
          </a:prstGeom>
          <a:solidFill>
            <a:srgbClr val="2F9D54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0723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已用 90 / 500　·　剩余 410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51560" y="3438144"/>
            <a:ext cx="4480560" cy="384048"/>
          </a:xfrm>
          <a:prstGeom prst="roundRect">
            <a:avLst>
              <a:gd name="adj" fmla="val 14286"/>
            </a:avLst>
          </a:prstGeom>
          <a:solidFill>
            <a:srgbClr val="F2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34747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牙膏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3474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×90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44348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8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冷冻 / 冰鲜 / 普通 分区分组展示</a:t>
            </a:r>
            <a:endParaRPr lang="en-US" sz="118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8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容量、已用、剩余容量 + 使用率进度条（≥95% 变红）</a:t>
            </a:r>
            <a:endParaRPr lang="en-US" sz="118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8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逐行列出存放的商品与数量，空库位标注「空置」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355080" y="1600200"/>
            <a:ext cx="5285232" cy="4526280"/>
          </a:xfrm>
          <a:prstGeom prst="roundRect">
            <a:avLst>
              <a:gd name="adj" fmla="val 1818"/>
            </a:avLst>
          </a:prstGeom>
          <a:solidFill>
            <a:srgbClr val="F6F9FE"/>
          </a:solidFill>
          <a:ln w="9525">
            <a:solidFill>
              <a:srgbClr val="DFE8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系统提示铃铛（右上角）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629400" y="2377440"/>
            <a:ext cx="473659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39712" y="2560320"/>
            <a:ext cx="128016" cy="128016"/>
          </a:xfrm>
          <a:prstGeom prst="ellipse">
            <a:avLst/>
          </a:prstGeom>
          <a:solidFill>
            <a:srgbClr val="E0920A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24505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补货提示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086600" y="276148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「牙膏」库存 90，低于安全下限 120，需及时进货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629400" y="3346704"/>
            <a:ext cx="473659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9712" y="3529584"/>
            <a:ext cx="128016" cy="12801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7086600" y="34198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清理提示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86600" y="373075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货位 鲜-5-01 的「葡萄」(500) 将于 2 天后到期，需清理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6647688" y="45262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8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铃铛角标实时显示提示条数，点击条目直达商品详情</a:t>
            </a:r>
            <a:endParaRPr lang="en-US" sz="118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8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出入库等操作完成后自动刷新，无需人工巡查</a:t>
            </a:r>
            <a:endParaRPr lang="en-US" sz="118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8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与「预警看板」同一数据源（实时 SQL 生成，非定时任务）</a:t>
            </a:r>
            <a:endParaRPr lang="en-US" sz="11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04672" cy="502920"/>
          </a:xfrm>
          <a:prstGeom prst="roundRect">
            <a:avLst>
              <a:gd name="adj" fmla="val 18182"/>
            </a:avLst>
          </a:prstGeom>
          <a:solidFill>
            <a:srgbClr val="0F25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536192" y="38404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项目功能 · 商品档案与经营分析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36192" y="969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从「一件商品」看穿它的库存、卖出与买入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892040" cy="4526280"/>
          </a:xfrm>
          <a:prstGeom prst="roundRect">
            <a:avLst>
              <a:gd name="adj" fmla="val 1818"/>
            </a:avLst>
          </a:prstGeom>
          <a:solidFill>
            <a:srgbClr val="F6F9FE"/>
          </a:solidFill>
          <a:ln w="9525">
            <a:solidFill>
              <a:srgbClr val="DFE8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4708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2F9D5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978762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84708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商品档案与详情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59536" y="265176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图片卡片网格，库存低于安全下限时红底标出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编辑不允许改库存 —— 库存只由出入库变更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档案维护保质期天数与清理预警提前天数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详情页：信息汇总 + 供应商自动推导 + 近期流水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历史折线支持 周 / 月 / 季 / 年 四种粒度切换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库存序列由当前库存沿流水逐期回推得到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60720" y="1600200"/>
            <a:ext cx="5879592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出入库 / 库存历史折线（示意数据）</a:t>
            </a:r>
            <a:endParaRPr lang="en-US" sz="13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989320" y="2240280"/>
          <a:ext cx="54406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04672" cy="502920"/>
          </a:xfrm>
          <a:prstGeom prst="roundRect">
            <a:avLst>
              <a:gd name="adj" fmla="val 18182"/>
            </a:avLst>
          </a:prstGeom>
          <a:solidFill>
            <a:srgbClr val="0F25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536192" y="38404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 · 收获 / 问题与解决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892040" cy="4709160"/>
          </a:xfrm>
          <a:prstGeom prst="roundRect">
            <a:avLst>
              <a:gd name="adj" fmla="val 1748"/>
            </a:avLst>
          </a:prstGeom>
          <a:solidFill>
            <a:srgbClr val="E7F6E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7190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2F9D5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850746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71907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7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收获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9536" y="2487168"/>
            <a:ext cx="43159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完整走通「需求 → 设计 → 开发 → 联调 → 部署」全流程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 Spring Boot 分层开发与事务一致性设计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掌握数据库表设计、增量脚本与批次化数据建模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前后端接口契约（统一响应 / 字段命名）协作经验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人 Git 分支协作，模块拆分与集成的团队经验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1463040"/>
            <a:ext cx="5879592" cy="4709160"/>
          </a:xfrm>
          <a:prstGeom prst="roundRect">
            <a:avLst>
              <a:gd name="adj" fmla="val 1748"/>
            </a:avLst>
          </a:prstGeom>
          <a:solidFill>
            <a:srgbClr val="F6F9FE"/>
          </a:solidFill>
          <a:ln w="9525">
            <a:solidFill>
              <a:srgbClr val="DFE8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35040" y="17190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0920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714" y="1850746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66560" y="171907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问题与解决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053328" y="2395728"/>
            <a:ext cx="5349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3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问：库存可被随意修改，账实不符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解：编辑表单移除库存字段，库存只由出入库事务变更</a:t>
            </a:r>
            <a:endParaRPr lang="en-US" sz="1130" dirty="0"/>
          </a:p>
        </p:txBody>
      </p:sp>
      <p:sp>
        <p:nvSpPr>
          <p:cNvPr id="15" name="Shape 11"/>
          <p:cNvSpPr/>
          <p:nvPr/>
        </p:nvSpPr>
        <p:spPr>
          <a:xfrm>
            <a:off x="6053328" y="3236976"/>
            <a:ext cx="5303520" cy="0"/>
          </a:xfrm>
          <a:prstGeom prst="line">
            <a:avLst/>
          </a:prstGeom>
          <a:noFill/>
          <a:ln w="9525">
            <a:solidFill>
              <a:srgbClr val="DFE8F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53328" y="3310128"/>
            <a:ext cx="5349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3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问：临期商品发现晚、损耗大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解：批次记录到期日 + 提前 N 天自动提示 + 先到期先出</a:t>
            </a:r>
            <a:endParaRPr lang="en-US" sz="1130" dirty="0"/>
          </a:p>
        </p:txBody>
      </p:sp>
      <p:sp>
        <p:nvSpPr>
          <p:cNvPr id="17" name="Shape 13"/>
          <p:cNvSpPr/>
          <p:nvPr/>
        </p:nvSpPr>
        <p:spPr>
          <a:xfrm>
            <a:off x="6053328" y="4151376"/>
            <a:ext cx="5303520" cy="0"/>
          </a:xfrm>
          <a:prstGeom prst="line">
            <a:avLst/>
          </a:prstGeom>
          <a:noFill/>
          <a:ln w="9525">
            <a:solidFill>
              <a:srgbClr val="DFE8F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53328" y="4224528"/>
            <a:ext cx="5349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3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问：图片过大撑爆请求与数据库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解：前端 canvas 压缩至 900px + 列改 mediumtext 兜底</a:t>
            </a:r>
            <a:endParaRPr lang="en-US" sz="1130" dirty="0"/>
          </a:p>
        </p:txBody>
      </p:sp>
      <p:sp>
        <p:nvSpPr>
          <p:cNvPr id="19" name="Shape 15"/>
          <p:cNvSpPr/>
          <p:nvPr/>
        </p:nvSpPr>
        <p:spPr>
          <a:xfrm>
            <a:off x="6053328" y="5065776"/>
            <a:ext cx="5303520" cy="0"/>
          </a:xfrm>
          <a:prstGeom prst="line">
            <a:avLst/>
          </a:prstGeom>
          <a:noFill/>
          <a:ln w="9525">
            <a:solidFill>
              <a:srgbClr val="DFE8F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053328" y="5138928"/>
            <a:ext cx="5349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3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问：前后端字段命名不一致导致显示错乱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解：统一以后端 JSON 驼峰命名为准，逐字段对账修正</a:t>
            </a:r>
            <a:endParaRPr lang="en-US" sz="11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04672" cy="502920"/>
          </a:xfrm>
          <a:prstGeom prst="roundRect">
            <a:avLst>
              <a:gd name="adj" fmla="val 18182"/>
            </a:avLst>
          </a:prstGeom>
          <a:solidFill>
            <a:srgbClr val="0F25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536192" y="38404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 · 升级与改进方案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36192" y="969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项目后续规划：从答辩演示走向真实门店可用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639312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90195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2A78D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2033626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92024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会话升级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26060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/ Redis 替换内存 Token，支持集群部署与长会话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70832" y="1645920"/>
            <a:ext cx="3639312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26864" y="190195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2F9D5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538" y="2033626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30952" y="192024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分页与报表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645152" y="26060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列表分页加载；库存/进销数据一键导出 Excel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93024" y="1645920"/>
            <a:ext cx="3639312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49056" y="190195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84F9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730" y="2033626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53144" y="192024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多角色权限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467344" y="26060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店长 / 仓管 / 收银分权，操作范围按角色隔离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3931920"/>
            <a:ext cx="3639312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04672" y="418795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0920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6" y="4319626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08760" y="420624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条码扫码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22960" y="48920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接入条码 / 扫码枪，出入库扫码登记，减少手工录入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370832" y="3931920"/>
            <a:ext cx="3639312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626864" y="418795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2A78D6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8538" y="4319626"/>
            <a:ext cx="285293" cy="28529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30952" y="420624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4645152" y="48920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小程序端货架旁完成盘点与临期清理确认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193024" y="3931920"/>
            <a:ext cx="3639312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FE8F5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449056" y="418795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DC2626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0730" y="4319626"/>
            <a:ext cx="285293" cy="28529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153144" y="420624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对接收银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8467344" y="48920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销售订单对接收银系统，售出自动出库扣减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64008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10012680" y="64008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B3A6B">
              <a:alpha val="9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64008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B3A6B">
              <a:alpha val="8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235440" y="141732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B3A6B">
              <a:alpha val="8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012680" y="141732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B3A6B">
              <a:alpha val="7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0" y="141732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B3A6B">
              <a:alpha val="7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92024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2A78D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" y="2101291"/>
            <a:ext cx="460858" cy="46085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2880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演示完毕，谢谢观看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86868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恳请各位老师批评指正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6868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8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小明智库 · 超市仓储进销存管理系统 · 计231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小明智库 · 超市仓储进销存管理系统 答辩汇报</dc:title>
  <dc:subject>PptxGenJS Presentation</dc:subject>
  <dc:creator>计231</dc:creator>
  <cp:lastModifiedBy>计231</cp:lastModifiedBy>
  <cp:revision>1</cp:revision>
  <dcterms:created xsi:type="dcterms:W3CDTF">2026-07-18T02:22:24Z</dcterms:created>
  <dcterms:modified xsi:type="dcterms:W3CDTF">2026-07-18T02:22:24Z</dcterms:modified>
</cp:coreProperties>
</file>